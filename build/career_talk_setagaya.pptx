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集中と分散：働き方の考え方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914400" y="1417320"/>
            <a:ext cx="4846320" cy="4114800"/>
          </a:xfrm>
          <a:prstGeom prst="roundRect">
            <a:avLst>
              <a:gd name="adj" fmla="val 2667"/>
            </a:avLst>
          </a:prstGeom>
          <a:solidFill>
            <a:srgbClr val="1B2942"/>
          </a:solidFill>
          <a:ln w="19050">
            <a:solidFill>
              <a:srgbClr val="E76F5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6916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集中（Concentration）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🔦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1188720" y="3291840"/>
            <a:ext cx="4297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多くの自分を投下して</a:t>
            </a:r>
            <a:endParaRPr lang="en-US" sz="2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臨むこと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188720" y="466344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「一点突破」で最大のエネルギーを注ぐ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400800" y="1417320"/>
            <a:ext cx="4846320" cy="4114800"/>
          </a:xfrm>
          <a:prstGeom prst="roundRect">
            <a:avLst>
              <a:gd name="adj" fmla="val 2667"/>
            </a:avLst>
          </a:prstGeom>
          <a:solidFill>
            <a:srgbClr val="1B2942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0" y="169164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分散（Diversion）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400800" y="2286000"/>
            <a:ext cx="4846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🌳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6675120" y="3291840"/>
            <a:ext cx="42976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リスクも自分も分けて、</a:t>
            </a:r>
            <a:endParaRPr lang="en-US" sz="2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活動すること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6675120" y="4663440"/>
            <a:ext cx="4297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バランスを保ち、長く続ける生存戦略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※岡田斗司夫さんの「分散の考え方」を参考に……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1/17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進路も分散してみませんか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植元 雅斗</a:t>
            </a:r>
            <a:pPr indent="0" marL="0">
              <a:buNone/>
            </a:pPr>
            <a:r>
              <a:rPr lang="en-US" sz="16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　私の色々な活動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0292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15875">
            <a:solidFill>
              <a:srgbClr val="2EC4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0992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💻 </a:t>
            </a:r>
            <a:pPr indent="0" marL="0">
              <a:buNone/>
            </a:pPr>
            <a:r>
              <a:rPr lang="en-US" sz="16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本業・正社員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24028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Dell Technologies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1772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15875">
            <a:solidFill>
              <a:srgbClr val="9B7B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00600" y="170992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📷 </a:t>
            </a:r>
            <a:pPr indent="0" marL="0">
              <a:buNone/>
            </a:pPr>
            <a:r>
              <a:rPr lang="en-US" sz="16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クリエイティブ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846320" y="224028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フリーランスカメラマン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YouTube・アプリ開発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732520" y="160020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15875">
            <a:solidFill>
              <a:srgbClr val="E76F5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915400" y="170992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🏫 </a:t>
            </a:r>
            <a:pPr indent="0" marL="0">
              <a:buNone/>
            </a:pPr>
            <a:r>
              <a:rPr lang="en-US" sz="16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教育・ベンチャー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961120" y="224028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まなびぱれっと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教育系イベントの運営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15875">
            <a:solidFill>
              <a:srgbClr val="2A9D8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372160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📝 </a:t>
            </a:r>
            <a:pPr indent="0" marL="0">
              <a:buNone/>
            </a:pPr>
            <a:r>
              <a:rPr lang="en-US" sz="1600" b="1" dirty="0">
                <a:solidFill>
                  <a:srgbClr val="2A9D8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執筆・メディア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2519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小説・同人誌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ラジオの構成作家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61772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15875">
            <a:solidFill>
              <a:srgbClr val="5C9D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372160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🏛 </a:t>
            </a:r>
            <a:pPr indent="0" marL="0">
              <a:buNone/>
            </a:pPr>
            <a:r>
              <a:rPr lang="en-US" sz="1600" b="1" dirty="0">
                <a:solidFill>
                  <a:srgbClr val="5C9DE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4846320" y="42519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コミケスタッフ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732520" y="3611880"/>
            <a:ext cx="3611880" cy="1783080"/>
          </a:xfrm>
          <a:prstGeom prst="roundRect">
            <a:avLst>
              <a:gd name="adj" fmla="val 4103"/>
            </a:avLst>
          </a:prstGeom>
          <a:solidFill>
            <a:srgbClr val="1B2942"/>
          </a:solidFill>
          <a:ln w="15875">
            <a:solidFill>
              <a:srgbClr val="52B7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915400" y="3721608"/>
            <a:ext cx="3246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🚃 </a:t>
            </a:r>
            <a:pPr indent="0" marL="0">
              <a:buNone/>
            </a:pPr>
            <a:r>
              <a:rPr lang="en-US" sz="16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趣味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1120" y="4251960"/>
            <a:ext cx="32004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埼玉から岐阜まで在来線移動</a:t>
            </a:r>
            <a:endParaRPr lang="en-US" sz="13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ラジオ/小説/映画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なんでこんなに色々やってるの？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2/17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人生目標：「人と人の間に場を作り、間をなくす」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1B2942"/>
          </a:solidFill>
          <a:ln w="15875">
            <a:solidFill>
              <a:srgbClr val="2EC4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150876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 場を作る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02920" y="1938528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〜目標に直結する〜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77240" y="233172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TABOO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コミケスタッフ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ボカロDJ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まなびハウス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バス旅行の企画/運営/運転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34256" y="137160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1B2942"/>
          </a:solidFill>
          <a:ln w="15875">
            <a:solidFill>
              <a:srgbClr val="9B7B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34256" y="150876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 自分を拡張する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334256" y="1938528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〜目標に間接的に寄与〜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08576" y="233172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小説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YouTube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同人誌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8165592" y="1371600"/>
            <a:ext cx="3520440" cy="3383280"/>
          </a:xfrm>
          <a:prstGeom prst="roundRect">
            <a:avLst>
              <a:gd name="adj" fmla="val 2162"/>
            </a:avLst>
          </a:prstGeom>
          <a:solidFill>
            <a:srgbClr val="1B2942"/>
          </a:solidFill>
          <a:ln w="15875">
            <a:solidFill>
              <a:srgbClr val="E76F5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65592" y="1508760"/>
            <a:ext cx="35204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 生存戦略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8165592" y="1938528"/>
            <a:ext cx="3520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〜生きる為に必要〜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439912" y="2331720"/>
            <a:ext cx="30175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Dell（本業）</a:t>
            </a:r>
            <a:endParaRPr lang="en-US" sz="15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● カメラマン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937760"/>
            <a:ext cx="11183112" cy="868680"/>
          </a:xfrm>
          <a:prstGeom prst="roundRect">
            <a:avLst>
              <a:gd name="adj" fmla="val 8421"/>
            </a:avLst>
          </a:prstGeom>
          <a:solidFill>
            <a:srgbClr val="22324F"/>
          </a:solidFill>
          <a:ln w="15875">
            <a:solidFill>
              <a:srgbClr val="52B78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4937760"/>
            <a:ext cx="11183112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これらの基となるたくさんのバイト in 学生時代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どんなバイトをしてきたの？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3/17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学生時代のバイト/仕事歴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280160"/>
            <a:ext cx="2286000" cy="2240280"/>
          </a:xfrm>
          <a:prstGeom prst="roundRect">
            <a:avLst>
              <a:gd name="adj" fmla="val 244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pic>
        <p:nvPicPr>
          <p:cNvPr id="4" name="Image 0" descr="assets/photos/sanr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9808" y="1389888"/>
            <a:ext cx="2066544" cy="20208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063240" y="1280160"/>
            <a:ext cx="320040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サンリオ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ピューロランド レジ係</a:t>
            </a:r>
            <a:endParaRPr lang="en-US" sz="1800" dirty="0"/>
          </a:p>
        </p:txBody>
      </p:sp>
      <p:sp>
        <p:nvSpPr>
          <p:cNvPr id="6" name="Shape 3"/>
          <p:cNvSpPr/>
          <p:nvPr/>
        </p:nvSpPr>
        <p:spPr>
          <a:xfrm>
            <a:off x="6400800" y="1280160"/>
            <a:ext cx="2286000" cy="2240280"/>
          </a:xfrm>
          <a:prstGeom prst="roundRect">
            <a:avLst>
              <a:gd name="adj" fmla="val 244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pic>
        <p:nvPicPr>
          <p:cNvPr id="7" name="Image 1" descr="assets/photos/rad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389888"/>
            <a:ext cx="2066544" cy="2020824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8823960" y="1280160"/>
            <a:ext cx="320040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アーティストの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ラジオ番組 構成作家</a:t>
            </a:r>
            <a:endParaRPr lang="en-US" sz="1800" dirty="0"/>
          </a:p>
        </p:txBody>
      </p:sp>
      <p:sp>
        <p:nvSpPr>
          <p:cNvPr id="9" name="Shape 5"/>
          <p:cNvSpPr/>
          <p:nvPr/>
        </p:nvSpPr>
        <p:spPr>
          <a:xfrm>
            <a:off x="640080" y="3794760"/>
            <a:ext cx="2286000" cy="2240280"/>
          </a:xfrm>
          <a:prstGeom prst="roundRect">
            <a:avLst>
              <a:gd name="adj" fmla="val 244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pic>
        <p:nvPicPr>
          <p:cNvPr id="10" name="Image 2" descr="assets/photos/comik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49808" y="3904488"/>
            <a:ext cx="2066544" cy="2020824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3063240" y="3794760"/>
            <a:ext cx="320040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コミケ スタッフ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（更衣室担当）</a:t>
            </a:r>
            <a:endParaRPr lang="en-US" sz="1800" dirty="0"/>
          </a:p>
        </p:txBody>
      </p:sp>
      <p:sp>
        <p:nvSpPr>
          <p:cNvPr id="12" name="Shape 7"/>
          <p:cNvSpPr/>
          <p:nvPr/>
        </p:nvSpPr>
        <p:spPr>
          <a:xfrm>
            <a:off x="6400800" y="3794760"/>
            <a:ext cx="2286000" cy="2240280"/>
          </a:xfrm>
          <a:prstGeom prst="roundRect">
            <a:avLst>
              <a:gd name="adj" fmla="val 2449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pic>
        <p:nvPicPr>
          <p:cNvPr id="13" name="Image 3" descr="assets/photos/inter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904488"/>
            <a:ext cx="2066544" cy="2020824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8823960" y="3794760"/>
            <a:ext cx="3200400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インターン2社同時</a:t>
            </a:r>
            <a:endParaRPr lang="en-US" sz="1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（電車にPC忘れた）</a:t>
            </a:r>
            <a:endParaRPr lang="en-US" sz="1800" dirty="0"/>
          </a:p>
        </p:txBody>
      </p:sp>
      <p:sp>
        <p:nvSpPr>
          <p:cNvPr id="15" name="Text 9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いろんな仕事がありますが……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4/17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37744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仕事に何を求めますか？？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457200" y="374904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※複数OKです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5/17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411480"/>
            <a:ext cx="4114800" cy="640080"/>
          </a:xfrm>
          <a:prstGeom prst="roundRect">
            <a:avLst>
              <a:gd name="adj" fmla="val 50000"/>
            </a:avLst>
          </a:prstGeom>
          <a:solidFill>
            <a:srgbClr val="F4A261"/>
          </a:solidFill>
          <a:ln/>
        </p:spPr>
      </p:sp>
      <p:sp>
        <p:nvSpPr>
          <p:cNvPr id="3" name="Text 1"/>
          <p:cNvSpPr/>
          <p:nvPr/>
        </p:nvSpPr>
        <p:spPr>
          <a:xfrm>
            <a:off x="4023360" y="41148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WORK ①  まず書いてみよう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2801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仕事に求めるもの、ぜんぶ書き出してみよう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723748" y="2240280"/>
            <a:ext cx="1965960" cy="868680"/>
          </a:xfrm>
          <a:prstGeom prst="roundRect">
            <a:avLst>
              <a:gd name="adj" fmla="val 10526"/>
            </a:avLst>
          </a:prstGeom>
          <a:solidFill>
            <a:srgbClr val="1B2942"/>
          </a:solidFill>
          <a:ln w="19050">
            <a:solidFill>
              <a:srgbClr val="2EC4B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23748" y="2240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給与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2918308" y="2240280"/>
            <a:ext cx="1965960" cy="868680"/>
          </a:xfrm>
          <a:prstGeom prst="roundRect">
            <a:avLst>
              <a:gd name="adj" fmla="val 10526"/>
            </a:avLst>
          </a:prstGeom>
          <a:solidFill>
            <a:srgbClr val="1B2942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918308" y="2240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やりがい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112868" y="2240280"/>
            <a:ext cx="1965960" cy="868680"/>
          </a:xfrm>
          <a:prstGeom prst="roundRect">
            <a:avLst>
              <a:gd name="adj" fmla="val 10526"/>
            </a:avLst>
          </a:prstGeom>
          <a:solidFill>
            <a:srgbClr val="1B2942"/>
          </a:solidFill>
          <a:ln w="19050">
            <a:solidFill>
              <a:srgbClr val="52B78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112868" y="2240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成長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7307428" y="2240280"/>
            <a:ext cx="1965960" cy="868680"/>
          </a:xfrm>
          <a:prstGeom prst="roundRect">
            <a:avLst>
              <a:gd name="adj" fmla="val 10526"/>
            </a:avLst>
          </a:prstGeom>
          <a:solidFill>
            <a:srgbClr val="1B2942"/>
          </a:solidFill>
          <a:ln w="19050">
            <a:solidFill>
              <a:srgbClr val="E76F5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07428" y="2240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社会貢献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9501988" y="2240280"/>
            <a:ext cx="1965960" cy="868680"/>
          </a:xfrm>
          <a:prstGeom prst="roundRect">
            <a:avLst>
              <a:gd name="adj" fmla="val 10526"/>
            </a:avLst>
          </a:prstGeom>
          <a:solidFill>
            <a:srgbClr val="1B2942"/>
          </a:solidFill>
          <a:ln w="19050">
            <a:solidFill>
              <a:srgbClr val="9B7B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501988" y="2240280"/>
            <a:ext cx="19659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人間関係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1463040" y="3566160"/>
            <a:ext cx="9262872" cy="2011680"/>
          </a:xfrm>
          <a:prstGeom prst="roundRect">
            <a:avLst>
              <a:gd name="adj" fmla="val 4545"/>
            </a:avLst>
          </a:prstGeom>
          <a:solidFill>
            <a:srgbClr val="22324F"/>
          </a:solidFill>
          <a:ln w="15875">
            <a:solidFill>
              <a:srgbClr val="F4A2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828800" y="3749040"/>
            <a:ext cx="85039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① 上の5つから、自分が大事だと思うものを選ぶ（複数OK）
</a:t>
            </a:r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② 「なぜそれが大事か」を一言メモ
</a:t>
            </a:r>
            <a:pPr indent="0" marL="0">
              <a:lnSpc>
                <a:spcPct val="1250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③ 5つ以外でもOK（例：自由な時間、好きな人と働く…）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457200" y="571500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⏱ 制限時間 2分 — 紙でも、頭の中でもOK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6/17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023360" y="411480"/>
            <a:ext cx="4114800" cy="640080"/>
          </a:xfrm>
          <a:prstGeom prst="roundRect">
            <a:avLst>
              <a:gd name="adj" fmla="val 50000"/>
            </a:avLst>
          </a:prstGeom>
          <a:solidFill>
            <a:srgbClr val="2EC4B6"/>
          </a:solidFill>
          <a:ln/>
        </p:spPr>
      </p:sp>
      <p:sp>
        <p:nvSpPr>
          <p:cNvPr id="3" name="Text 1"/>
          <p:cNvSpPr/>
          <p:nvPr/>
        </p:nvSpPr>
        <p:spPr>
          <a:xfrm>
            <a:off x="4023360" y="41148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WORK ②  みんなのを見てみよう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132588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何人かに聞いてみます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1463040" y="2377440"/>
            <a:ext cx="9262872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463040" y="2377440"/>
            <a:ext cx="128016" cy="86868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7" name="Text 5"/>
          <p:cNvSpPr/>
          <p:nvPr/>
        </p:nvSpPr>
        <p:spPr>
          <a:xfrm>
            <a:off x="1828800" y="2377440"/>
            <a:ext cx="8686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どれを選んだ？　いくつ選んだ？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1463040" y="3429000"/>
            <a:ext cx="9262872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463040" y="3429000"/>
            <a:ext cx="128016" cy="868680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0" name="Text 8"/>
          <p:cNvSpPr/>
          <p:nvPr/>
        </p:nvSpPr>
        <p:spPr>
          <a:xfrm>
            <a:off x="1828800" y="3429000"/>
            <a:ext cx="8686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一番大事なのはどれ？　その理由は？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463040" y="4480560"/>
            <a:ext cx="9262872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63040" y="4480560"/>
            <a:ext cx="128016" cy="868680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13" name="Text 11"/>
          <p:cNvSpPr/>
          <p:nvPr/>
        </p:nvSpPr>
        <p:spPr>
          <a:xfrm>
            <a:off x="1828800" y="4480560"/>
            <a:ext cx="8686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5つ以外のものを書いた人、教えて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7200" y="5623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👉 答えは人によってバラバラ。それで正解。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7/17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仕事に何を求めますか？？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457200" y="11430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※複数OKです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32308" y="26517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1B2942"/>
          </a:solidFill>
          <a:ln w="22225">
            <a:solidFill>
              <a:srgbClr val="2EC4B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32308" y="2651760"/>
            <a:ext cx="1965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給与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2872588" y="26517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1B2942"/>
          </a:solidFill>
          <a:ln w="22225">
            <a:solidFill>
              <a:srgbClr val="F4A2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72588" y="2651760"/>
            <a:ext cx="1965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やりがい</a:t>
            </a:r>
            <a:endParaRPr lang="en-US" sz="2400" dirty="0"/>
          </a:p>
        </p:txBody>
      </p:sp>
      <p:sp>
        <p:nvSpPr>
          <p:cNvPr id="8" name="Shape 6"/>
          <p:cNvSpPr/>
          <p:nvPr/>
        </p:nvSpPr>
        <p:spPr>
          <a:xfrm>
            <a:off x="5112868" y="26517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1B2942"/>
          </a:solidFill>
          <a:ln w="22225">
            <a:solidFill>
              <a:srgbClr val="52B7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112868" y="2651760"/>
            <a:ext cx="1965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成長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7353148" y="26517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1B2942"/>
          </a:solidFill>
          <a:ln w="22225">
            <a:solidFill>
              <a:srgbClr val="E76F5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53148" y="2651760"/>
            <a:ext cx="1965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社会貢献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593428" y="2651760"/>
            <a:ext cx="1965960" cy="1463040"/>
          </a:xfrm>
          <a:prstGeom prst="roundRect">
            <a:avLst>
              <a:gd name="adj" fmla="val 7500"/>
            </a:avLst>
          </a:prstGeom>
          <a:solidFill>
            <a:srgbClr val="1B2942"/>
          </a:solidFill>
          <a:ln w="22225">
            <a:solidFill>
              <a:srgbClr val="9B7B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593428" y="2651760"/>
            <a:ext cx="19659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人間関係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8/17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03120"/>
            <a:ext cx="1124712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全部満たせる仕事、</a:t>
            </a:r>
            <a:endParaRPr lang="en-US" sz="46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見つかりますか？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9/17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0"/>
            <a:ext cx="112471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”すっごく”ムリムリだ
</a:t>
            </a:r>
            <a:pPr algn="ctr" indent="0" marL="0">
              <a:lnSpc>
                <a:spcPct val="11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と思いました……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10/17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そこで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11/17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11430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一つの仕事に「全部」を求めない ： 分散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058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岡田斗司夫さんの考え方より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08864" y="1508760"/>
            <a:ext cx="2103120" cy="502920"/>
          </a:xfrm>
          <a:prstGeom prst="roundRect">
            <a:avLst>
              <a:gd name="adj" fmla="val 10909"/>
            </a:avLst>
          </a:prstGeom>
          <a:solidFill>
            <a:srgbClr val="E76F51"/>
          </a:solidFill>
          <a:ln/>
        </p:spPr>
      </p:sp>
      <p:sp>
        <p:nvSpPr>
          <p:cNvPr id="5" name="Text 3"/>
          <p:cNvSpPr/>
          <p:nvPr/>
        </p:nvSpPr>
        <p:spPr>
          <a:xfrm>
            <a:off x="508864" y="15087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 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8864" y="2084832"/>
            <a:ext cx="2103120" cy="6858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12700">
            <a:solidFill>
              <a:srgbClr val="E76F5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8864" y="2084832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76F5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お金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76576" y="1508760"/>
            <a:ext cx="2103120" cy="502920"/>
          </a:xfrm>
          <a:prstGeom prst="roundRect">
            <a:avLst>
              <a:gd name="adj" fmla="val 10909"/>
            </a:avLst>
          </a:prstGeom>
          <a:solidFill>
            <a:srgbClr val="2EC4B6"/>
          </a:solidFill>
          <a:ln/>
        </p:spPr>
      </p:sp>
      <p:sp>
        <p:nvSpPr>
          <p:cNvPr id="9" name="Text 7"/>
          <p:cNvSpPr/>
          <p:nvPr/>
        </p:nvSpPr>
        <p:spPr>
          <a:xfrm>
            <a:off x="2776576" y="15087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 B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2776576" y="2084832"/>
            <a:ext cx="2103120" cy="6858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12700">
            <a:solidFill>
              <a:srgbClr val="2EC4B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776576" y="2084832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やりがい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044288" y="1508760"/>
            <a:ext cx="2103120" cy="502920"/>
          </a:xfrm>
          <a:prstGeom prst="roundRect">
            <a:avLst>
              <a:gd name="adj" fmla="val 10909"/>
            </a:avLst>
          </a:prstGeom>
          <a:solidFill>
            <a:srgbClr val="9B7BFF"/>
          </a:solidFill>
          <a:ln/>
        </p:spPr>
      </p:sp>
      <p:sp>
        <p:nvSpPr>
          <p:cNvPr id="13" name="Text 11"/>
          <p:cNvSpPr/>
          <p:nvPr/>
        </p:nvSpPr>
        <p:spPr>
          <a:xfrm>
            <a:off x="5044288" y="15087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 C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44288" y="2084832"/>
            <a:ext cx="2103120" cy="6858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12700">
            <a:solidFill>
              <a:srgbClr val="9B7B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44288" y="2084832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人間関係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7312000" y="1508760"/>
            <a:ext cx="2103120" cy="502920"/>
          </a:xfrm>
          <a:prstGeom prst="roundRect">
            <a:avLst>
              <a:gd name="adj" fmla="val 10909"/>
            </a:avLst>
          </a:prstGeom>
          <a:solidFill>
            <a:srgbClr val="52B788"/>
          </a:solidFill>
          <a:ln/>
        </p:spPr>
      </p:sp>
      <p:sp>
        <p:nvSpPr>
          <p:cNvPr id="17" name="Text 15"/>
          <p:cNvSpPr/>
          <p:nvPr/>
        </p:nvSpPr>
        <p:spPr>
          <a:xfrm>
            <a:off x="7312000" y="15087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 D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312000" y="2084832"/>
            <a:ext cx="2103120" cy="6858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12700">
            <a:solidFill>
              <a:srgbClr val="52B7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2000" y="2084832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52B788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社会貢献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579712" y="1508760"/>
            <a:ext cx="2103120" cy="502920"/>
          </a:xfrm>
          <a:prstGeom prst="roundRect">
            <a:avLst>
              <a:gd name="adj" fmla="val 10909"/>
            </a:avLst>
          </a:prstGeom>
          <a:solidFill>
            <a:srgbClr val="F4A261"/>
          </a:solidFill>
          <a:ln/>
        </p:spPr>
      </p:sp>
      <p:sp>
        <p:nvSpPr>
          <p:cNvPr id="21" name="Text 19"/>
          <p:cNvSpPr/>
          <p:nvPr/>
        </p:nvSpPr>
        <p:spPr>
          <a:xfrm>
            <a:off x="9579712" y="1508760"/>
            <a:ext cx="2103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 E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9579712" y="2084832"/>
            <a:ext cx="2103120" cy="685800"/>
          </a:xfrm>
          <a:prstGeom prst="roundRect">
            <a:avLst>
              <a:gd name="adj" fmla="val 8000"/>
            </a:avLst>
          </a:prstGeom>
          <a:solidFill>
            <a:srgbClr val="1B2942"/>
          </a:solidFill>
          <a:ln w="12700">
            <a:solidFill>
              <a:srgbClr val="F4A26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579712" y="2084832"/>
            <a:ext cx="21031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成長</a:t>
            </a:r>
            <a:endParaRPr lang="en-US" sz="1800" dirty="0"/>
          </a:p>
        </p:txBody>
      </p:sp>
      <p:sp>
        <p:nvSpPr>
          <p:cNvPr id="24" name="Shape 22"/>
          <p:cNvSpPr/>
          <p:nvPr/>
        </p:nvSpPr>
        <p:spPr>
          <a:xfrm>
            <a:off x="640080" y="3063240"/>
            <a:ext cx="10908792" cy="1417320"/>
          </a:xfrm>
          <a:prstGeom prst="roundRect">
            <a:avLst>
              <a:gd name="adj" fmla="val 5161"/>
            </a:avLst>
          </a:prstGeom>
          <a:solidFill>
            <a:srgbClr val="22324F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8680" y="3154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私の場合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68680" y="3520440"/>
            <a:ext cx="104241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Dell（お金） ＋ まなびぱれっと（やりがい）
</a:t>
            </a:r>
            <a:pPr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＋ カメラ（成長） ＋ 同人誌・小説（成長） ＋ コミケスタッフ（人間関係）</a:t>
            </a:r>
            <a:endParaRPr lang="en-US" sz="1900" dirty="0"/>
          </a:p>
        </p:txBody>
      </p:sp>
      <p:sp>
        <p:nvSpPr>
          <p:cNvPr id="27" name="Shape 25"/>
          <p:cNvSpPr/>
          <p:nvPr/>
        </p:nvSpPr>
        <p:spPr>
          <a:xfrm>
            <a:off x="640080" y="4617720"/>
            <a:ext cx="10908792" cy="1234440"/>
          </a:xfrm>
          <a:prstGeom prst="roundRect">
            <a:avLst>
              <a:gd name="adj" fmla="val 5926"/>
            </a:avLst>
          </a:prstGeom>
          <a:solidFill>
            <a:srgbClr val="1B2942"/>
          </a:solidFill>
          <a:ln w="19050">
            <a:solidFill>
              <a:srgbClr val="F4A26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4709160"/>
            <a:ext cx="103327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明治に上がるのも、立派な選択。</a:t>
            </a:r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  レールを否定する話じゃない。
</a:t>
            </a:r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その上で「大学の4年間で“何を”分散させるか」を、今から考えておくと強い。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なんでこの考えに至ったのか……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12/17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320040"/>
            <a:ext cx="114300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とにかく失敗が多かった……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1097280" y="1600200"/>
            <a:ext cx="9994392" cy="1005840"/>
          </a:xfrm>
          <a:prstGeom prst="roundRect">
            <a:avLst>
              <a:gd name="adj" fmla="val 7273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325880" y="1856232"/>
            <a:ext cx="502920" cy="502920"/>
          </a:xfrm>
          <a:prstGeom prst="ellipse">
            <a:avLst/>
          </a:prstGeom>
          <a:solidFill>
            <a:srgbClr val="E76F51"/>
          </a:solidFill>
          <a:ln/>
        </p:spPr>
      </p:sp>
      <p:sp>
        <p:nvSpPr>
          <p:cNvPr id="5" name="Text 3"/>
          <p:cNvSpPr/>
          <p:nvPr/>
        </p:nvSpPr>
        <p:spPr>
          <a:xfrm>
            <a:off x="1325880" y="18562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057400" y="1600200"/>
            <a:ext cx="8869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インターン2社同時 → 電車に2社分のPCを忘れた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1097280" y="2788920"/>
            <a:ext cx="9994392" cy="1005840"/>
          </a:xfrm>
          <a:prstGeom prst="roundRect">
            <a:avLst>
              <a:gd name="adj" fmla="val 7273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325880" y="3044952"/>
            <a:ext cx="502920" cy="502920"/>
          </a:xfrm>
          <a:prstGeom prst="ellipse">
            <a:avLst/>
          </a:prstGeom>
          <a:solidFill>
            <a:srgbClr val="F4A261"/>
          </a:solidFill>
          <a:ln/>
        </p:spPr>
      </p:sp>
      <p:sp>
        <p:nvSpPr>
          <p:cNvPr id="9" name="Text 7"/>
          <p:cNvSpPr/>
          <p:nvPr/>
        </p:nvSpPr>
        <p:spPr>
          <a:xfrm>
            <a:off x="1325880" y="304495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2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057400" y="2788920"/>
            <a:ext cx="8869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大学を留年した（学費を自分で払ったけれども……）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097280" y="3977640"/>
            <a:ext cx="9994392" cy="1005840"/>
          </a:xfrm>
          <a:prstGeom prst="roundRect">
            <a:avLst>
              <a:gd name="adj" fmla="val 7273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325880" y="4233672"/>
            <a:ext cx="502920" cy="502920"/>
          </a:xfrm>
          <a:prstGeom prst="ellipse">
            <a:avLst/>
          </a:prstGeom>
          <a:solidFill>
            <a:srgbClr val="2EC4B6"/>
          </a:solidFill>
          <a:ln/>
        </p:spPr>
      </p:sp>
      <p:sp>
        <p:nvSpPr>
          <p:cNvPr id="13" name="Text 11"/>
          <p:cNvSpPr/>
          <p:nvPr/>
        </p:nvSpPr>
        <p:spPr>
          <a:xfrm>
            <a:off x="1325880" y="423367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4223A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3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2057400" y="3977640"/>
            <a:ext cx="8869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仕事でも同じ構造のミスを繰り返した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だから一つの仕事に集中するのはリスクかも……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13/17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そこで提案します！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365760" y="777240"/>
            <a:ext cx="11430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進路を「分散」しませんか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914400" y="1965960"/>
            <a:ext cx="10360152" cy="1143000"/>
          </a:xfrm>
          <a:prstGeom prst="roundRect">
            <a:avLst>
              <a:gd name="adj" fmla="val 6400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146304" cy="1143000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6" name="Text 4"/>
          <p:cNvSpPr/>
          <p:nvPr/>
        </p:nvSpPr>
        <p:spPr>
          <a:xfrm>
            <a:off x="1280160" y="210312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2EC4B6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「好き」は、複数持っておいていい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1280160" y="2624328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一つに絞らなくていい。今のうちに増やしておく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914400" y="3246120"/>
            <a:ext cx="10360152" cy="1143000"/>
          </a:xfrm>
          <a:prstGeom prst="roundRect">
            <a:avLst>
              <a:gd name="adj" fmla="val 6400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246120"/>
            <a:ext cx="146304" cy="1143000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10" name="Text 8"/>
          <p:cNvSpPr/>
          <p:nvPr/>
        </p:nvSpPr>
        <p:spPr>
          <a:xfrm>
            <a:off x="1280160" y="338328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9B7B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没頭できる物語は無数にある</a:t>
            </a:r>
            <a:endParaRPr lang="en-US" sz="2300" dirty="0"/>
          </a:p>
        </p:txBody>
      </p:sp>
      <p:sp>
        <p:nvSpPr>
          <p:cNvPr id="11" name="Text 9"/>
          <p:cNvSpPr/>
          <p:nvPr/>
        </p:nvSpPr>
        <p:spPr>
          <a:xfrm>
            <a:off x="1280160" y="3904488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——燃え尽きるほど一点に賭けなくていい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14400" y="4526280"/>
            <a:ext cx="10360152" cy="1143000"/>
          </a:xfrm>
          <a:prstGeom prst="roundRect">
            <a:avLst>
              <a:gd name="adj" fmla="val 6400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526280"/>
            <a:ext cx="146304" cy="11430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これからの3年間・大学の4年間をどう使うか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1280160" y="5184648"/>
            <a:ext cx="9784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進路は“いつ決めるか”より“どう分散させておくか”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【よくある不安】分散したら失敗してしまうかも……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14/17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(たくさん失敗した植元が言う)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365760" y="777240"/>
            <a:ext cx="11430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進路に「失敗」はない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914400" y="1828800"/>
            <a:ext cx="10360152" cy="3291840"/>
          </a:xfrm>
          <a:prstGeom prst="roundRect">
            <a:avLst>
              <a:gd name="adj" fmla="val 2778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80160" y="210312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大学でも大学院でも専門でも就職でも修行でも、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「なぜその選択をしたか」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397764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を言えれば問題ない！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失敗も、色々も、普通じゃないルートも —— 理由があれば「自分の進路」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626364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だから提案します……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15/17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なんでも聞いてください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4A261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Q &amp; A</a:t>
            </a:r>
            <a:endParaRPr lang="en-US" sz="6400" dirty="0"/>
          </a:p>
        </p:txBody>
      </p:sp>
      <p:sp>
        <p:nvSpPr>
          <p:cNvPr id="4" name="Shape 2"/>
          <p:cNvSpPr/>
          <p:nvPr/>
        </p:nvSpPr>
        <p:spPr>
          <a:xfrm>
            <a:off x="640080" y="27432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274320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内部進学（明治）ってどう？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343400" y="27432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0" y="274320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大学の4年間、どう使う？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8046720" y="274320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83880" y="274320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「好き」の増やし方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640080" y="384048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84048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副業・フリーランスの話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4343400" y="384048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80560" y="384048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お金・給料のこと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8046720" y="3840480"/>
            <a:ext cx="3520440" cy="868680"/>
          </a:xfrm>
          <a:prstGeom prst="roundRect">
            <a:avLst>
              <a:gd name="adj" fmla="val 8421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83880" y="3840480"/>
            <a:ext cx="32461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AEBED4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失敗談のつづき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Q&amp;Aは10〜15分くらい取ります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16/17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2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2004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質問がなければ……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914400" y="1234440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4400" y="1234440"/>
            <a:ext cx="128016" cy="841248"/>
          </a:xfrm>
          <a:prstGeom prst="rect">
            <a:avLst/>
          </a:prstGeom>
          <a:solidFill>
            <a:srgbClr val="E76F51"/>
          </a:solidFill>
          <a:ln/>
        </p:spPr>
      </p:sp>
      <p:sp>
        <p:nvSpPr>
          <p:cNvPr id="5" name="Text 3"/>
          <p:cNvSpPr/>
          <p:nvPr/>
        </p:nvSpPr>
        <p:spPr>
          <a:xfrm>
            <a:off x="1280160" y="1234440"/>
            <a:ext cx="9875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留年したとき、親になんて言った？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914400" y="2212848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2212848"/>
            <a:ext cx="128016" cy="841248"/>
          </a:xfrm>
          <a:prstGeom prst="rect">
            <a:avLst/>
          </a:prstGeom>
          <a:solidFill>
            <a:srgbClr val="2EC4B6"/>
          </a:solidFill>
          <a:ln/>
        </p:spPr>
      </p:sp>
      <p:sp>
        <p:nvSpPr>
          <p:cNvPr id="8" name="Text 6"/>
          <p:cNvSpPr/>
          <p:nvPr/>
        </p:nvSpPr>
        <p:spPr>
          <a:xfrm>
            <a:off x="1280160" y="2212848"/>
            <a:ext cx="9875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サンリオのバイト、実際どうだった？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914400" y="3191256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3191256"/>
            <a:ext cx="128016" cy="841248"/>
          </a:xfrm>
          <a:prstGeom prst="rect">
            <a:avLst/>
          </a:prstGeom>
          <a:solidFill>
            <a:srgbClr val="F4A261"/>
          </a:solidFill>
          <a:ln/>
        </p:spPr>
      </p:sp>
      <p:sp>
        <p:nvSpPr>
          <p:cNvPr id="11" name="Text 9"/>
          <p:cNvSpPr/>
          <p:nvPr/>
        </p:nvSpPr>
        <p:spPr>
          <a:xfrm>
            <a:off x="1280160" y="3191256"/>
            <a:ext cx="9875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インターンのPC、どうやって取り返した？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4169664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14400" y="4169664"/>
            <a:ext cx="128016" cy="841248"/>
          </a:xfrm>
          <a:prstGeom prst="rect">
            <a:avLst/>
          </a:prstGeom>
          <a:solidFill>
            <a:srgbClr val="9B7BFF"/>
          </a:solidFill>
          <a:ln/>
        </p:spPr>
      </p:sp>
      <p:sp>
        <p:nvSpPr>
          <p:cNvPr id="14" name="Text 12"/>
          <p:cNvSpPr/>
          <p:nvPr/>
        </p:nvSpPr>
        <p:spPr>
          <a:xfrm>
            <a:off x="1280160" y="4169664"/>
            <a:ext cx="9875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今の仕事、ぶっちゃけ給料いくら？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914400" y="5148072"/>
            <a:ext cx="10360152" cy="841248"/>
          </a:xfrm>
          <a:prstGeom prst="roundRect">
            <a:avLst>
              <a:gd name="adj" fmla="val 8696"/>
            </a:avLst>
          </a:prstGeom>
          <a:solidFill>
            <a:srgbClr val="1B2942"/>
          </a:solidFill>
          <a:ln w="12700">
            <a:solidFill>
              <a:srgbClr val="33455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14400" y="5148072"/>
            <a:ext cx="128016" cy="841248"/>
          </a:xfrm>
          <a:prstGeom prst="rect">
            <a:avLst/>
          </a:prstGeom>
          <a:solidFill>
            <a:srgbClr val="52B788"/>
          </a:solidFill>
          <a:ln/>
        </p:spPr>
      </p:sp>
      <p:sp>
        <p:nvSpPr>
          <p:cNvPr id="17" name="Text 15"/>
          <p:cNvSpPr/>
          <p:nvPr/>
        </p:nvSpPr>
        <p:spPr>
          <a:xfrm>
            <a:off x="1280160" y="5148072"/>
            <a:ext cx="98755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高校の3年間、何に時間を使うか決めてる？</a:t>
            </a: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10881360" y="635508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8294AE"/>
                </a:solidFill>
                <a:latin typeface="IPAGothic" pitchFamily="34" charset="0"/>
                <a:ea typeface="IPAGothic" pitchFamily="34" charset="-122"/>
                <a:cs typeface="IPAGothic" pitchFamily="34" charset="-120"/>
              </a:rPr>
              <a:t>17/17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進路も分散してみませんか</dc:title>
  <dc:subject>PptxGenJS Presentation</dc:subject>
  <dc:creator>植元 雅斗</dc:creator>
  <cp:lastModifiedBy>植元 雅斗</cp:lastModifiedBy>
  <cp:revision>1</cp:revision>
  <dcterms:created xsi:type="dcterms:W3CDTF">2026-06-20T02:51:01Z</dcterms:created>
  <dcterms:modified xsi:type="dcterms:W3CDTF">2026-06-20T02:51:01Z</dcterms:modified>
</cp:coreProperties>
</file>