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54680"/>
            <a:ext cx="12191695" cy="457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9202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進路も分散してみませんか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 好きも、進路も、複数あっていい 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植元 雅斗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明治大学附属世田谷高校 / 2026.7.9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1/48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今日のゴール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645920" y="1920240"/>
            <a:ext cx="8897112" cy="2743200"/>
          </a:xfrm>
          <a:prstGeom prst="roundRect">
            <a:avLst>
              <a:gd name="adj" fmla="val 4000"/>
            </a:avLst>
          </a:prstGeom>
          <a:solidFill>
            <a:srgbClr val="22324F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0" y="2240280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持ち帰ってほしいのは、たった2つ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45920" y="29718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「分散しよう」と「つくる側に回ろう」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3977640"/>
            <a:ext cx="8897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全部は覚えなくてOK。この2つだけ。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2/48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今日の流れ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00200"/>
            <a:ext cx="146304" cy="9601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9164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自己紹介 — ちょっと変わった大人の話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212826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本業のかたわら、色々やっています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743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43200"/>
            <a:ext cx="146304" cy="9601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ワーク — 仕事に何を求める？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327126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書いて、何人かに聞きます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86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886200"/>
            <a:ext cx="146304" cy="96012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97764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2つの柱 — 「分散」と「場をつくる」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441426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今日のメインの話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5029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029200"/>
            <a:ext cx="146304" cy="96012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12064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④ 進路の話 ＆ Q&amp;A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280160" y="555726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最後はなんでも聞いてください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3/48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将来やりたいこと、</a:t>
            </a:r>
            <a:endParaRPr lang="en-US" sz="4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もう決まってる人？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40233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決まってなくて全然OK。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今日はむしろ「今は決めなくていい」という話をします。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（手を挙げてもらう／その場で2〜3人に聞く）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4/48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集中と分散：働き方の考え方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集中（Concentration）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多くの自分を投下して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臨むこと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887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「一点突破」で最大のエネルギーを注ぐ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分散（Diversion）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🌳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6751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リスクも自分も分けて、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活動すること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6751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バランスを保ち、長く続ける生存戦略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※岡田斗司夫さんの「分散の考え方」を参考に……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5/48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進路も分散してみませんか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植元 雅斗</a:t>
            </a:r>
            <a:pPr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私の色々な活動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💻 </a:t>
            </a:r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本業・正社員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 Technologies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📷 </a:t>
            </a:r>
            <a:pPr indent="0" marL="0">
              <a:buNone/>
            </a:pPr>
            <a:r>
              <a:rPr lang="en-US" sz="16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クリエイティブ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フリーランスカメラマン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YouTube・アプリ開発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325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🏫 </a:t>
            </a:r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教育・ベンチャー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まなびぱれっと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教育系イベントの運営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📝 </a:t>
            </a:r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執筆・メディア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小説・同人誌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ラジオの構成作家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5C9D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🏛 </a:t>
            </a:r>
            <a:pPr indent="0" marL="0">
              <a:buNone/>
            </a:pPr>
            <a:r>
              <a:rPr lang="en-US" sz="1600" b="1" dirty="0">
                <a:solidFill>
                  <a:srgbClr val="5C9DE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コミケスタッフ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154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🚃 </a:t>
            </a:r>
            <a:pPr indent="0" marL="0">
              <a:buNone/>
            </a:pPr>
            <a:r>
              <a:rPr lang="en-US" sz="16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趣味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11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埼玉から岐阜まで在来線移動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ラジオ/小説/映画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なんでこんなに色々やってるの？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6/48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人生目標：「人と人の間に場を作り、間をなくす」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場を作る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02920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〜目標に直結する〜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TABOO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コミケスタッフ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ボカロDJ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まなびハウス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バス旅行の企画/運営/運転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34256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自分を拡張する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34256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〜目標に間接的に寄与〜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8576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小説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YouTube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同人誌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65592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生存戦略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65592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〜生きる為に必要〜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39912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Dell（本業）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カメラマン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22324F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937760"/>
            <a:ext cx="11183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これらの基となるたくさんのバイト in 学生時代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“場を作る”が一番上にある — 今日の後半の伏線です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7/48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分散って、具体的にはこういうこと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僕のある1週間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00200"/>
            <a:ext cx="146304" cy="9144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6002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平日 9-18時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49040" y="16002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Dell（本業）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0" y="160020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お金・安定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633472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33472"/>
            <a:ext cx="146304" cy="9144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334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平日の夜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2633472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執筆・アプリ開発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686800" y="2633472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やりがい・成長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666744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666744"/>
            <a:ext cx="146304" cy="9144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3666744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土曜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49040" y="3666744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カメラ撮影 / 教育イベント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686800" y="366674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成長・人とのつながり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4700016"/>
            <a:ext cx="10360152" cy="9144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00016"/>
            <a:ext cx="146304" cy="91440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4700016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日曜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749040" y="4700016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コミケ準備 / ラジオ構成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686800" y="4700016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人間関係・好き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一人の中に、いくつもの顔がある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8/48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学生時代のバイト/仕事歴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4" name="Image 0" descr="assets/photos/san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389888"/>
            <a:ext cx="2066544" cy="2020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ピューロランド レジ係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7" name="Image 1" descr="assets/photos/rad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389888"/>
            <a:ext cx="2066544" cy="2020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82396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アーティストの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ラジオ番組 構成作家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4008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10" name="Image 2" descr="assets/photos/comik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" y="3904488"/>
            <a:ext cx="2066544" cy="20208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6324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 スタッフ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（更衣室担当）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40080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13" name="Image 3" descr="assets/photos/int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904488"/>
            <a:ext cx="2066544" cy="202082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2396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（電車にPC忘れた）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いろんな仕事がありますが……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9/48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57200" y="3749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※複数OKです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10/48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①  まず書いてみよう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仕事に求めるもの、ぜんぶ書き出してみよう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2374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374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1830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830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11286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52B7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286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0742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742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50198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9B7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198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463040" y="3566160"/>
            <a:ext cx="9262872" cy="2011680"/>
          </a:xfrm>
          <a:prstGeom prst="roundRect">
            <a:avLst>
              <a:gd name="adj" fmla="val 4545"/>
            </a:avLst>
          </a:prstGeom>
          <a:solidFill>
            <a:srgbClr val="22324F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3749040"/>
            <a:ext cx="8503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上の5つから、自分が大事だと思うものを選ぶ（複数OK）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「なぜそれが大事か」を一言メモ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5つ以外でもOK（例：自由な時間、好きな人と働く…）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⏱ 制限時間 2分 — 紙でも、頭の中でもOK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11/48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②  みんなのを見てみよう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何人かに聞いてみます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463040" y="237744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377440"/>
            <a:ext cx="128016" cy="86868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237744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どれを選んだ？　いくつ選んだ？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463040" y="342900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3429000"/>
            <a:ext cx="128016" cy="8686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42900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一番大事なのはどれ？　その理由は？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463040" y="448056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0" y="4480560"/>
            <a:ext cx="128016" cy="86868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0" y="448056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5つ以外のものを書いた人、教えて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👉 答えは人によってバラバラ。それで正解。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12/48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答えは、人によってバラバラ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それで、いい。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でも——全部を「1つの仕事」で満たそうとすると、ちょっと苦しい。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13/48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ここからが、1つ目の柱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260604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①  </a:t>
            </a:r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143000" y="4114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一つに全部を賭けない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14/48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※よく挙がるのは、この5つ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3230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230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7258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7258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1286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52B7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1286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5314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5314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9342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9B7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9342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15/48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03120"/>
            <a:ext cx="11247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全部満たせる仕事、</a:t>
            </a:r>
            <a:endParaRPr lang="en-US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見つかりますか？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16/48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”すっごく”ムリムリだ
</a:t>
            </a:r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と思いました……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17/48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18/48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「集中」のいいところ・しんどいところ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69164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◎ いいところ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・深く極められる／一点を突き抜けられる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・「これが私」と言いやすい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91840"/>
            <a:ext cx="1036015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42900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△ しんどいところ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・コケたとき、全部いっぺんに失う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・視野がせまくなりがち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じゃあ「分散」はどうだろう？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19/48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「分散」のいいところ・しんどいところ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10360152" cy="1737360"/>
          </a:xfrm>
          <a:prstGeom prst="roundRect">
            <a:avLst>
              <a:gd name="adj" fmla="val 5263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55448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◎ いいところ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・リスクが分かれる（1つコケても平気）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・違う活動どうしが「掛け算」になる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・無理がないから、長く続けられる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91840"/>
            <a:ext cx="10360152" cy="1371600"/>
          </a:xfrm>
          <a:prstGeom prst="roundRect">
            <a:avLst>
              <a:gd name="adj" fmla="val 6667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4290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△ しんどいところ
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・すぐには突き抜けない／時間がかかる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高校生の今は「分散」が向いている、というのが今日の提案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20/48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一つの仕事に「全部」を求めない ： 分散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岡田斗司夫さんの考え方より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8864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508864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8864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8864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76576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2EC4B6"/>
          </a:solidFill>
          <a:ln/>
        </p:spPr>
      </p:sp>
      <p:sp>
        <p:nvSpPr>
          <p:cNvPr id="9" name="Text 7"/>
          <p:cNvSpPr/>
          <p:nvPr/>
        </p:nvSpPr>
        <p:spPr>
          <a:xfrm>
            <a:off x="2776576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76576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6576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44288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044288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C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44288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12700">
            <a:solidFill>
              <a:srgbClr val="9B7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4288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2000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2000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312000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2000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579712" y="219456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4A261"/>
          </a:solidFill>
          <a:ln/>
        </p:spPr>
      </p:sp>
      <p:sp>
        <p:nvSpPr>
          <p:cNvPr id="21" name="Text 19"/>
          <p:cNvSpPr/>
          <p:nvPr/>
        </p:nvSpPr>
        <p:spPr>
          <a:xfrm>
            <a:off x="9579712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79712" y="29260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B2942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79712" y="29260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お金はA、やりがいはB、人間関係はC……と「分けて」手に入れる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これを自分に当てはめると……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21/48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私の場合の「分散」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371600" y="1554480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554480"/>
            <a:ext cx="146304" cy="82296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5544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Dell（本業）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0" y="1554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お金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2487168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2487168"/>
            <a:ext cx="146304" cy="82296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487168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まなびぱれっと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772400" y="248716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やりがい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371600" y="3419856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419856"/>
            <a:ext cx="146304" cy="82296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419856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 / 同人誌・小説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772400" y="3419856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成長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371600" y="4352544"/>
            <a:ext cx="9445752" cy="82296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1600" y="4352544"/>
            <a:ext cx="146304" cy="82296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352544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コミケスタッフ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772400" y="4352544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→ 人間関係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371600" y="5349240"/>
            <a:ext cx="9445752" cy="777240"/>
          </a:xfrm>
          <a:prstGeom prst="roundRect">
            <a:avLst>
              <a:gd name="adj" fmla="val 9412"/>
            </a:avLst>
          </a:prstGeom>
          <a:solidFill>
            <a:srgbClr val="22324F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53492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一つの仕事が多少しんどくても、他のところでバランスが取れる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22/48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822960"/>
            <a:ext cx="8531352" cy="822960"/>
          </a:xfrm>
          <a:prstGeom prst="roundRect">
            <a:avLst>
              <a:gd name="adj" fmla="val 11111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0" y="82296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「分散って、ただの器用貧乏では？」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——よく言われます。でも、こう考えています。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68880"/>
            <a:ext cx="146304" cy="9601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6888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突き抜ける人も、最初は「いろいろ試す」から始まっている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36576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657600"/>
            <a:ext cx="146304" cy="96012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5760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バラバラの経験は、つながると「自分だけの武器」になる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14400" y="484632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46320"/>
            <a:ext cx="146304" cy="96012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484632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続けられる人が、結局いちばん遠くまで行ける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23/48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バラバラの「好き」は、ある日つながる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分散は、足し算じゃなくて掛け算になる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78308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63040" y="178308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</a:t>
            </a:r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</a:t>
            </a:r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教材・スクール撮影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306324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306324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小説</a:t>
            </a:r>
            <a:pPr algn="ctr" indent="0" marL="0">
              <a:buNone/>
            </a:pPr>
            <a:r>
              <a:rPr lang="en-US" sz="22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</a:t>
            </a:r>
            <a:pPr algn="ctr" indent="0" marL="0">
              <a:buNone/>
            </a:pPr>
            <a:r>
              <a:rPr lang="en-US" sz="22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番組の構成作家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4343400"/>
            <a:ext cx="999439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4343400"/>
            <a:ext cx="9326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企画</a:t>
            </a:r>
            <a:pPr algn="ctr" indent="0" marL="0"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×　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pPr algn="ctr" indent="0" marL="0"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＝　</a:t>
            </a:r>
            <a:pPr algn="ctr" indent="0" marL="0"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イベント運営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なんでこの考えに至ったのか……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24/48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とにかく失敗が多かった……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60020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1856232"/>
            <a:ext cx="502920" cy="50292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57400" y="160020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 → 電車に2社分のPCを忘れた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97280" y="278892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3044952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057400" y="278892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大学を留年した（学費は自分で払った……）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97280" y="397764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5880" y="4233672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233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57400" y="397764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仕事でも同じ構造のミスを繰り返した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中でも忘れられないのが……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25/48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失敗エピソード 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インターンを2社、同時にやった結果……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45752" cy="2377440"/>
          </a:xfrm>
          <a:prstGeom prst="roundRect">
            <a:avLst>
              <a:gd name="adj" fmla="val 3846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237744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電車に、2社分のノートPCを忘れた
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頭が真っ白。会社にも平謝り。</a:t>
            </a:r>
            <a:endParaRPr lang="en-US" sz="2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「両立」って、見た目以上に難しい。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※どうやって取り返したかは、Q&amp;Aで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26/48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失敗エピソード 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大学を、留年した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45752" cy="2377440"/>
          </a:xfrm>
          <a:prstGeom prst="roundRect">
            <a:avLst>
              <a:gd name="adj" fmla="val 3846"/>
            </a:avLst>
          </a:prstGeom>
          <a:solidFill>
            <a:srgbClr val="1B2942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237744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色々やりすぎて、単位を落とした。
学費は、自分で払った。
</a:t>
            </a:r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正直しんどかった。でも——「終わり」ではなかった。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27/48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でも、折れなかった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1371600" y="2651760"/>
            <a:ext cx="9445752" cy="2103120"/>
          </a:xfrm>
          <a:prstGeom prst="roundRect">
            <a:avLst>
              <a:gd name="adj" fmla="val 4348"/>
            </a:avLst>
          </a:prstGeom>
          <a:solidFill>
            <a:srgbClr val="22324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37360" y="283464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一つコケても、他の活動が残っていたから。
</a:t>
            </a:r>
            <a:pPr algn="ctr" indent="0" marL="0">
              <a:lnSpc>
                <a:spcPct val="120000"/>
              </a:lnSpc>
              <a:buNone/>
            </a:pPr>
            <a:endParaRPr lang="en-US" sz="2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「分散」は、心を守るセーフティネットにもなる。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だから、進路の話に戻ります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28/48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明治に上がる人へ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9994392" cy="1371600"/>
          </a:xfrm>
          <a:prstGeom prst="roundRect">
            <a:avLst>
              <a:gd name="adj" fmla="val 6667"/>
            </a:avLst>
          </a:prstGeom>
          <a:solidFill>
            <a:srgbClr val="1B2942"/>
          </a:solidFill>
          <a:ln w="19050">
            <a:solidFill>
              <a:srgbClr val="52B7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600200"/>
            <a:ext cx="9235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内部進学は、立派な選択。
</a:t>
            </a:r>
            <a:pPr algn="ctr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「分散しよう」は、レールを否定する話じゃない。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0" y="3063240"/>
            <a:ext cx="9994392" cy="2103120"/>
          </a:xfrm>
          <a:prstGeom prst="roundRect">
            <a:avLst>
              <a:gd name="adj" fmla="val 4348"/>
            </a:avLst>
          </a:prstGeom>
          <a:solidFill>
            <a:srgbClr val="22324F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3246120"/>
            <a:ext cx="9235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その上で——
</a:t>
            </a:r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「大学の4年間で “何を” 分散させるか」
</a:t>
            </a:r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を、今から考えておくと、めちゃくちゃ強い。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じゃあ、何を分散させる？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29/48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大学の4年間で、分散できること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📚 </a:t>
            </a:r>
            <a:pPr indent="0" marL="0">
              <a:buNone/>
            </a:pPr>
            <a:r>
              <a:rPr lang="en-US" sz="17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学問・研究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専攻＋他学部の授業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177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🎭 </a:t>
            </a:r>
            <a:pPr indent="0" marL="0">
              <a:buNone/>
            </a:pPr>
            <a:r>
              <a:rPr lang="en-US" sz="17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サークル・部活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好きを深める仲間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32520" y="141732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1554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💼 </a:t>
            </a:r>
            <a:pPr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長期インターン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0" y="21031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社会を先に味見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5C9D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✈ </a:t>
            </a:r>
            <a:pPr indent="0" marL="0">
              <a:buNone/>
            </a:pPr>
            <a:r>
              <a:rPr lang="en-US" sz="1700" b="1" dirty="0">
                <a:solidFill>
                  <a:srgbClr val="5C9DE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留学・旅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世界を広げる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🚀 </a:t>
            </a:r>
            <a:pPr indent="0" marL="0">
              <a:buNone/>
            </a:pPr>
            <a:r>
              <a:rPr lang="en-US" sz="17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副業・起業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463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小さく自分で稼ぐ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732520" y="31546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3291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🤝 </a:t>
            </a:r>
            <a:pPr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61120" y="38404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学外の居場所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全部やらなくていい。種を「複数」まいておくだけ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30/48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そこで提案します！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進路を「分散」しませんか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46304" cy="11430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057400"/>
            <a:ext cx="9720072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「好き」は、複数持っておいていい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59461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一つに絞らなくていい。今のうちに増やしておく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46120"/>
            <a:ext cx="146304" cy="11430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337560"/>
            <a:ext cx="9720072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没頭できる物語は無数にある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387477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——燃え尽きるほど一点に賭けなくていい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452628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26280"/>
            <a:ext cx="146304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617720"/>
            <a:ext cx="9720072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これからの3年間・大学の4年間をどう使うか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515493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進路は“いつ決めるか”より“どう分散させておくか”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……でも、分散には、もう一つ大事な相棒がいます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31/48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そして、もう一つの柱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260604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②  </a:t>
            </a:r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143000" y="4114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「客」をやめて、つくる側に回る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32/48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もう一つだけ。「客」をやめてみる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9994392" cy="1554480"/>
          </a:xfrm>
          <a:prstGeom prst="roundRect">
            <a:avLst>
              <a:gd name="adj" fmla="val 5882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554480"/>
            <a:ext cx="9235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イベントも、部活も、教室も——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参加する「だけ」じゃなく、つくる側／運営側に一回立ってみる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見える景色が、180°変わる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文化祭、お客さんで回るのと企画する側。どっちが記憶に残る？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33/48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そもそも「場」って？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828800" y="1554480"/>
            <a:ext cx="8531352" cy="1097280"/>
          </a:xfrm>
          <a:prstGeom prst="roundRect">
            <a:avLst>
              <a:gd name="adj" fmla="val 8333"/>
            </a:avLst>
          </a:prstGeom>
          <a:solidFill>
            <a:srgbClr val="22324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1554480"/>
            <a:ext cx="8531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人が集まって、何かが生まれるところ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23444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教室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84632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部活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458200" y="301752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58200" y="30175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23444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LINEグループ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84632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58200" y="4023360"/>
            <a:ext cx="3383280" cy="777240"/>
          </a:xfrm>
          <a:prstGeom prst="roundRect">
            <a:avLst>
              <a:gd name="adj" fmla="val 47059"/>
            </a:avLst>
          </a:prstGeom>
          <a:solidFill>
            <a:srgbClr val="1B2942"/>
          </a:solidFill>
          <a:ln w="15875">
            <a:solidFill>
              <a:srgbClr val="5C9D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40233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C9DE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この講話も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大それたものじゃない。2人集まれば、もう「場」。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34/48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「客」と「つくる側」、何が違う？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463040"/>
            <a:ext cx="4846320" cy="3200400"/>
          </a:xfrm>
          <a:prstGeom prst="roundRect">
            <a:avLst>
              <a:gd name="adj" fmla="val 3429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客のまま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・受け取るだけ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・記憶に残りにくい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・つながりは浅い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0" y="1463040"/>
            <a:ext cx="4846320" cy="3200400"/>
          </a:xfrm>
          <a:prstGeom prst="roundRect">
            <a:avLst>
              <a:gd name="adj" fmla="val 3429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691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0" y="2468880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・自分ごとになる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・濃い経験が残る</a:t>
            </a:r>
            <a:endParaRPr lang="en-US" sz="2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・人とつながる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一回でいいから、つくる側に立ってみてほしい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35/48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僕がつくってきた「場」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46304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15875">
            <a:solidFill>
              <a:srgbClr val="5C9D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46304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C9DE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コミケ運営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更衣室担当のスタッフ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46304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🏫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680960" y="146304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まなびの場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まなびハウス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47472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🚌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286000" y="347472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バス旅行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企画・運営・運転まで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3474720"/>
            <a:ext cx="5029200" cy="1691640"/>
          </a:xfrm>
          <a:prstGeom prst="roundRect">
            <a:avLst>
              <a:gd name="adj" fmla="val 5405"/>
            </a:avLst>
          </a:prstGeom>
          <a:solidFill>
            <a:srgbClr val="1B2942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474720"/>
            <a:ext cx="1005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🎤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680960" y="347472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この講話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今この時間も一つの場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バラバラに見える活動、実は全部「場」だった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36/48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場は、小さくていい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914400" y="265176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651760"/>
            <a:ext cx="146304" cy="86868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65176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友だち2人で始める勉強会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374904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49040"/>
            <a:ext cx="146304" cy="86868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374904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好きな人を集めた撮影会・上映会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4846320"/>
            <a:ext cx="1036015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46320"/>
            <a:ext cx="146304" cy="8686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4846320"/>
            <a:ext cx="9720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クラスの小さな企画・出し物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いきなり大きくしなくていい。小さく始める。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37/48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つくる側に回って、変わったこと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9994392" cy="3200400"/>
          </a:xfrm>
          <a:prstGeom prst="roundRect">
            <a:avLst>
              <a:gd name="adj" fmla="val 2857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737360"/>
            <a:ext cx="90525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コミケの更衣室担当、まなびの場づくり——
</a:t>
            </a:r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「参加者」から「運営」に回った瞬間、
</a:t>
            </a:r>
            <a:pPr algn="ct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急に、人とつながれた。
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バラバラだった僕の活動が、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「場」を通して、人とつながっていった。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38/48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場をつくると、人との「間」がなくなる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508760"/>
            <a:ext cx="9994392" cy="182880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508760"/>
            <a:ext cx="9235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自分の「場」を持つと、そこに人が集まる。
</a:t>
            </a:r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分散していたバラバラの点が、場を通してつながる。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0" y="3611880"/>
            <a:ext cx="7616952" cy="1188720"/>
          </a:xfrm>
          <a:prstGeom prst="roundRect">
            <a:avLst>
              <a:gd name="adj" fmla="val 9231"/>
            </a:avLst>
          </a:prstGeom>
          <a:solidFill>
            <a:srgbClr val="22324F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3611880"/>
            <a:ext cx="7616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 × 場づくり ＝ 自分の生き方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そういえば、僕の人生目標は……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39/48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バラバラの点が、場を通して「線」になる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828800" y="2011680"/>
            <a:ext cx="4261104" cy="1371600"/>
          </a:xfrm>
          <a:prstGeom prst="line">
            <a:avLst/>
          </a:prstGeom>
          <a:noFill/>
          <a:ln w="1905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089904" y="2011680"/>
            <a:ext cx="3968496" cy="1371600"/>
          </a:xfrm>
          <a:prstGeom prst="line">
            <a:avLst/>
          </a:prstGeom>
          <a:noFill/>
          <a:ln w="19050">
            <a:solidFill>
              <a:srgbClr val="3345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3383280"/>
            <a:ext cx="4718304" cy="822960"/>
          </a:xfrm>
          <a:prstGeom prst="line">
            <a:avLst/>
          </a:prstGeom>
          <a:noFill/>
          <a:ln w="19050">
            <a:solidFill>
              <a:srgbClr val="334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9904" y="3383280"/>
            <a:ext cx="4334256" cy="822960"/>
          </a:xfrm>
          <a:prstGeom prst="line">
            <a:avLst/>
          </a:prstGeom>
          <a:noFill/>
          <a:ln w="19050">
            <a:solidFill>
              <a:srgbClr val="3345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089904" y="3383280"/>
            <a:ext cx="0" cy="1737360"/>
          </a:xfrm>
          <a:prstGeom prst="line">
            <a:avLst/>
          </a:prstGeom>
          <a:noFill/>
          <a:ln w="1905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75504" y="288036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5175504" y="288036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88720" y="1691640"/>
            <a:ext cx="1280160" cy="640080"/>
          </a:xfrm>
          <a:prstGeom prst="ellipse">
            <a:avLst/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1691640"/>
            <a:ext cx="1280160" cy="640080"/>
          </a:xfrm>
          <a:prstGeom prst="ellipse">
            <a:avLst/>
          </a:prstGeom>
          <a:solidFill>
            <a:srgbClr val="1B2942"/>
          </a:solidFill>
          <a:ln w="19050">
            <a:solidFill>
              <a:srgbClr val="9B7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カメラ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1280160" cy="640080"/>
          </a:xfrm>
          <a:prstGeom prst="ellipse">
            <a:avLst/>
          </a:prstGeom>
          <a:solidFill>
            <a:srgbClr val="1B2942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886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0" y="3886200"/>
            <a:ext cx="1280160" cy="640080"/>
          </a:xfrm>
          <a:prstGeom prst="ellipse">
            <a:avLst/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6920" y="3886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49824" y="4800600"/>
            <a:ext cx="1280160" cy="640080"/>
          </a:xfrm>
          <a:prstGeom prst="ellipse">
            <a:avLst/>
          </a:prstGeom>
          <a:solidFill>
            <a:srgbClr val="1B2942"/>
          </a:solidFill>
          <a:ln w="19050">
            <a:solidFill>
              <a:srgbClr val="52B7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12664" y="48006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分散（点）× 場づくり（つなぐ）＝ 自分だけの形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40/48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高校で、今からできる「場づくり」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00200"/>
            <a:ext cx="146304" cy="9601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00200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文化祭・体育祭の実行委員に手を挙げる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761488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761488"/>
            <a:ext cx="146304" cy="9601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761488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部活で、新しい企画を自分から立てる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3922776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22776"/>
            <a:ext cx="146304" cy="96012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922776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小さな集まり（勉強会・撮影会）を主催する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5084064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84064"/>
            <a:ext cx="146304" cy="96012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5084064"/>
            <a:ext cx="9720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SNSで発信して、人を集めてみる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一回でいい。「客」から「つくる側」へ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41/48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今日の2つの柱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4846320" cy="3291840"/>
          </a:xfrm>
          <a:prstGeom prst="roundRect">
            <a:avLst>
              <a:gd name="adj" fmla="val 3333"/>
            </a:avLst>
          </a:prstGeom>
          <a:solidFill>
            <a:srgbClr val="1B2942"/>
          </a:solidFill>
          <a:ln w="22225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①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188720" y="338328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好きを複数持つ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一つに全部賭けない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4846320" cy="3291840"/>
          </a:xfrm>
          <a:prstGeom prst="roundRect">
            <a:avLst>
              <a:gd name="adj" fmla="val 3333"/>
            </a:avLst>
          </a:prstGeom>
          <a:solidFill>
            <a:srgbClr val="1B2942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柱 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場をつくる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675120" y="338328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つくる側に回る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632704" y="26517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✕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この2本で、進路の話に戻ります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42/48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(たくさん失敗した植元が言う)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進路に「失敗」はない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0360152" cy="3291840"/>
          </a:xfrm>
          <a:prstGeom prst="roundRect">
            <a:avLst>
              <a:gd name="adj" fmla="val 2778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103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大学でも大学院でも専門でも就職でも、内部進学でも、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「なぜその選択をしたか」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を言えれば問題ない！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失敗も、色々も、普通じゃないルートも —— 理由があれば「自分の進路」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43/48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高校生活で、今日からできること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146304" cy="9601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64592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1. 好きなことを「3つ」書き出す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208254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［分散］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697480"/>
            <a:ext cx="146304" cy="96012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78892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2. やったことないことを「1つ」試す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322554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［分散］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40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840480"/>
            <a:ext cx="146304" cy="9601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93192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3. 一度でいいから、つくる側に立つ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436854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［場づくり］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98348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83480"/>
            <a:ext cx="146304" cy="96012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074920"/>
            <a:ext cx="9720072" cy="528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4. 小さく発信する（SNS・文章・動画）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280160" y="5511546"/>
            <a:ext cx="9720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［場づくり］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大きく変えなくていい。種を増やすだけ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44/48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今日の持ち帰り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60020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892808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892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148840" y="160020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進路も「好き」も、複数あっていい（分散）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97280" y="292608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3218688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218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48840" y="292608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「客」をやめて、つくる側に回る（場づくり）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97280" y="4251960"/>
            <a:ext cx="9994392" cy="11430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9050">
            <a:solidFill>
              <a:srgbClr val="9B7B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4544568"/>
            <a:ext cx="548640" cy="548640"/>
          </a:xfrm>
          <a:prstGeom prst="ellipse">
            <a:avLst/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5445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48840" y="4251960"/>
            <a:ext cx="87782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進路に「失敗」はない（理由を言えれば自分の進路）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45/48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最後に、もう一度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60152" cy="1371600"/>
          </a:xfrm>
          <a:prstGeom prst="roundRect">
            <a:avLst>
              <a:gd name="adj" fmla="val 8000"/>
            </a:avLst>
          </a:prstGeom>
          <a:solidFill>
            <a:srgbClr val="22324F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「人と人の間に場を作り、間をなくす」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今日の話は、ぜんぶここにつながっています。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分散して、場をつくる。それが、僕の生き方です。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ありがとうございました。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46/48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なんでも聞いてください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内部進学（明治）ってどう？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34340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大学の4年間、どう使う？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4672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「場」のつくり方・はじめ方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副業・フリーランスの話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4340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お金・給料のこと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失敗談のつづき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Q&amp;Aは8〜10分ほど取ります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47/48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質問がなければ……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234440"/>
            <a:ext cx="128016" cy="84124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34440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留年したとき、親になんて言った？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212848"/>
            <a:ext cx="128016" cy="841248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212848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サンリオのバイト、実際どうだった？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3191256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128016" cy="84124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191256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インターンのPC、どうやって取り返した？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169664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169664"/>
            <a:ext cx="128016" cy="841248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169664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今の仕事、ぶっちゃけ給料いくら？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148072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148072"/>
            <a:ext cx="128016" cy="841248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148072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高校の3年間、何に時間を使うか決めてる？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48/48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進路も分散してみませんか</dc:title>
  <dc:subject>PptxGenJS Presentation</dc:subject>
  <dc:creator>植元 雅斗</dc:creator>
  <cp:lastModifiedBy>植元 雅斗</cp:lastModifiedBy>
  <cp:revision>1</cp:revision>
  <dcterms:created xsi:type="dcterms:W3CDTF">2026-06-20T05:16:05Z</dcterms:created>
  <dcterms:modified xsi:type="dcterms:W3CDTF">2026-06-20T05:16:05Z</dcterms:modified>
</cp:coreProperties>
</file>