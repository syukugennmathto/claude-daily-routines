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notesMasterIdLst>
    <p:notesMasterId r:id="rId5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154680"/>
            <a:ext cx="12191695" cy="45720"/>
          </a:xfrm>
          <a:prstGeom prst="rect">
            <a:avLst/>
          </a:prstGeom>
          <a:solidFill>
            <a:srgbClr val="3AD6C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92024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進路も分散してみませんか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457200" y="32461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〜 好きも、進路も、複数あっていい 〜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植元 雅斗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明治大学附属世田谷高校 / 2026.7.9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1/53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今日のゴール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645920" y="1920240"/>
            <a:ext cx="8897112" cy="2743200"/>
          </a:xfrm>
          <a:prstGeom prst="roundRect">
            <a:avLst>
              <a:gd name="adj" fmla="val 4000"/>
            </a:avLst>
          </a:prstGeom>
          <a:solidFill>
            <a:srgbClr val="22324F"/>
          </a:solidFill>
          <a:ln w="34925">
            <a:solidFill>
              <a:srgbClr val="F6B07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0" y="2240280"/>
            <a:ext cx="8897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持ち帰ってほしいのは、たった2つ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645920" y="2971800"/>
            <a:ext cx="88971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「分散しよう」と「つくる側に回ろう」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645920" y="3977640"/>
            <a:ext cx="88971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全部は覚えなくてOK。この2つだけ。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2/53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今日の流れ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60020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00200"/>
            <a:ext cx="201168" cy="960120"/>
          </a:xfrm>
          <a:prstGeom prst="rect">
            <a:avLst/>
          </a:prstGeom>
          <a:solidFill>
            <a:srgbClr val="3AD6C6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673352"/>
            <a:ext cx="9720072" cy="537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① 自己紹介 — ちょっと変わった大人の話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2137867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本業のかたわら、色々やっています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74320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743200"/>
            <a:ext cx="201168" cy="960120"/>
          </a:xfrm>
          <a:prstGeom prst="rect">
            <a:avLst/>
          </a:prstGeom>
          <a:solidFill>
            <a:srgbClr val="F6B071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2816352"/>
            <a:ext cx="9720072" cy="537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② ワーク — 仕事に何を求める？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80160" y="3280867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書いて、何人かに聞きます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388620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886200"/>
            <a:ext cx="201168" cy="960120"/>
          </a:xfrm>
          <a:prstGeom prst="rect">
            <a:avLst/>
          </a:prstGeom>
          <a:solidFill>
            <a:srgbClr val="B39BFF"/>
          </a:solidFill>
          <a:ln/>
        </p:spPr>
      </p:sp>
      <p:sp>
        <p:nvSpPr>
          <p:cNvPr id="13" name="Text 11"/>
          <p:cNvSpPr/>
          <p:nvPr/>
        </p:nvSpPr>
        <p:spPr>
          <a:xfrm>
            <a:off x="1280160" y="3959352"/>
            <a:ext cx="9720072" cy="537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 2つの柱 — 「分散」と「場をつくる」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280160" y="4423867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今日のメインの話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14400" y="502920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5029200"/>
            <a:ext cx="201168" cy="960120"/>
          </a:xfrm>
          <a:prstGeom prst="rect">
            <a:avLst/>
          </a:prstGeom>
          <a:solidFill>
            <a:srgbClr val="63C79A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5102352"/>
            <a:ext cx="9720072" cy="537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④ 進路の話 ＆ Q&amp;A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280160" y="5566867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最後はなんでも聞いてください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3/53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73736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将来やりたいこと、</a:t>
            </a:r>
            <a:endParaRPr lang="en-US" sz="4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もう決まってる人？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57200" y="402336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決まってなくて全然OK。</a:t>
            </a:r>
            <a:endParaRPr lang="en-US" sz="2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今日はむしろ「今は決めなくていい」という話をします。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（手を挙げてもらう／その場で2〜3人に聞く）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4/53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集中と分散：働き方の考え方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417320"/>
            <a:ext cx="4846320" cy="4114800"/>
          </a:xfrm>
          <a:prstGeom prst="roundRect">
            <a:avLst>
              <a:gd name="adj" fmla="val 2667"/>
            </a:avLst>
          </a:prstGeom>
          <a:solidFill>
            <a:srgbClr val="1B2942"/>
          </a:solidFill>
          <a:ln w="31750">
            <a:solidFill>
              <a:srgbClr val="F086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916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集中（Concentration）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🔦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88720" y="3291840"/>
            <a:ext cx="4297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多くの自分を投下して</a:t>
            </a:r>
            <a:endParaRPr lang="en-US" sz="2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臨むこと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188720" y="466344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「一点突破」で最大のエネルギーを注ぐ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0" y="1417320"/>
            <a:ext cx="4846320" cy="4114800"/>
          </a:xfrm>
          <a:prstGeom prst="roundRect">
            <a:avLst>
              <a:gd name="adj" fmla="val 2667"/>
            </a:avLst>
          </a:prstGeom>
          <a:solidFill>
            <a:srgbClr val="1B2942"/>
          </a:solidFill>
          <a:ln w="31750">
            <a:solidFill>
              <a:srgbClr val="3AD6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6916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分散（Diversion）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00800" y="228600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🌳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675120" y="3291840"/>
            <a:ext cx="4297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リスクも自分も分けて、</a:t>
            </a:r>
            <a:endParaRPr lang="en-US" sz="2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活動すること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6675120" y="466344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バランスを保ち、長く続ける生存戦略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※岡田斗司夫さんの「分散の考え方」を参考に……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5/53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進路も分散してみませんか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植元 雅斗</a:t>
            </a:r>
            <a:pPr indent="0" marL="0">
              <a:buNone/>
            </a:pPr>
            <a:r>
              <a:rPr lang="en-US" sz="16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　私の色々な活動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B2942"/>
          </a:solidFill>
          <a:ln w="28575">
            <a:solidFill>
              <a:srgbClr val="3AD6C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0992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💻 </a:t>
            </a:r>
            <a:pPr indent="0" marL="0">
              <a:buNone/>
            </a:pPr>
            <a:r>
              <a:rPr lang="en-US" sz="16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本業・正社員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Dell（エンタープライズIT）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1772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B2942"/>
          </a:solidFill>
          <a:ln w="28575">
            <a:solidFill>
              <a:srgbClr val="B39B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170992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🔢 </a:t>
            </a:r>
            <a:pPr indent="0" marL="0">
              <a:buNone/>
            </a:pPr>
            <a:r>
              <a:rPr lang="en-US" sz="1600" b="1" dirty="0">
                <a:solidFill>
                  <a:srgbClr val="B39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数学・IT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224028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数学YouTube・アプリ開発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ポスト量子暗号の実装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73252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B2942"/>
          </a:solidFill>
          <a:ln w="28575">
            <a:solidFill>
              <a:srgbClr val="F086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15400" y="170992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🏫 </a:t>
            </a:r>
            <a:pPr indent="0" marL="0">
              <a:buNone/>
            </a:pPr>
            <a:r>
              <a:rPr lang="en-US" sz="1600" b="1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教育・ベンチャー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61120" y="224028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まなびぱれっと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元SAPIX/家庭教師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292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B2942"/>
          </a:solidFill>
          <a:ln w="28575">
            <a:solidFill>
              <a:srgbClr val="3BBB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72160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📝 </a:t>
            </a:r>
            <a:pPr indent="0" marL="0">
              <a:buNone/>
            </a:pPr>
            <a:r>
              <a:rPr lang="en-US" sz="1600" b="1" dirty="0">
                <a:solidFill>
                  <a:srgbClr val="3BBBA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執筆・メディア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2519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小説・同人誌（暗号解説）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ラジオの構成作家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61772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B2942"/>
          </a:solidFill>
          <a:ln w="28575">
            <a:solidFill>
              <a:srgbClr val="7FB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372160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🏛 </a:t>
            </a:r>
            <a:pPr indent="0" marL="0">
              <a:buNone/>
            </a:pPr>
            <a:r>
              <a:rPr lang="en-US" sz="1600" b="1" dirty="0">
                <a:solidFill>
                  <a:srgbClr val="7FB6E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46320" y="42519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コミケスタッフ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73252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B2942"/>
          </a:solidFill>
          <a:ln w="28575">
            <a:solidFill>
              <a:srgbClr val="63C7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15400" y="372160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📷 </a:t>
            </a:r>
            <a:pPr indent="0" marL="0">
              <a:buNone/>
            </a:pPr>
            <a:r>
              <a:rPr lang="en-US" sz="16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クリエイティブ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1120" y="42519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フリーランスカメラマン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ボカロDJ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なんでこんなに色々やってるの？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6/53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人生目標：「人と人の間に場を作り、間をなくす」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1B2942"/>
          </a:solidFill>
          <a:ln w="28575">
            <a:solidFill>
              <a:srgbClr val="3AD6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50876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① 場を作る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02920" y="1938528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〜目標に直結する〜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TABOO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コミケスタッフ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ボカロDJ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まなびハウス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バス旅行の企画/運営/運転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34256" y="137160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1B2942"/>
          </a:solidFill>
          <a:ln w="28575">
            <a:solidFill>
              <a:srgbClr val="B39B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34256" y="150876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39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② 自分を拡張する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334256" y="1938528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39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〜目標に間接的に寄与〜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08576" y="233172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小説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YouTube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同人誌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65592" y="137160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1B2942"/>
          </a:solidFill>
          <a:ln w="28575">
            <a:solidFill>
              <a:srgbClr val="F086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5592" y="150876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 生存戦略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165592" y="1938528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〜生きる為に必要〜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39912" y="233172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Dell（本業）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カメラマン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4937760"/>
            <a:ext cx="11183112" cy="868680"/>
          </a:xfrm>
          <a:prstGeom prst="roundRect">
            <a:avLst>
              <a:gd name="adj" fmla="val 8421"/>
            </a:avLst>
          </a:prstGeom>
          <a:solidFill>
            <a:srgbClr val="22324F"/>
          </a:solidFill>
          <a:ln w="28575">
            <a:solidFill>
              <a:srgbClr val="63C7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4937760"/>
            <a:ext cx="111831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これらの基となるたくさんのバイト in 学生時代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“場を作る”が一番上にある — 今日の後半の伏線です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7/53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分散って、具体的にはこういうこと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僕のある1週間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1600200"/>
            <a:ext cx="10360152" cy="9144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00200"/>
            <a:ext cx="146304" cy="914400"/>
          </a:xfrm>
          <a:prstGeom prst="rect">
            <a:avLst/>
          </a:prstGeom>
          <a:solidFill>
            <a:srgbClr val="3AD6C6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160020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平日 9-18時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749040" y="160020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Dell（本業）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686800" y="160020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お金・安定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2633472"/>
            <a:ext cx="10360152" cy="9144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33472"/>
            <a:ext cx="146304" cy="914400"/>
          </a:xfrm>
          <a:prstGeom prst="rect">
            <a:avLst/>
          </a:prstGeom>
          <a:solidFill>
            <a:srgbClr val="F6B071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2633472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平日の夜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749040" y="2633472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執筆・アプリ開発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686800" y="2633472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やりがい・成長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14400" y="3666744"/>
            <a:ext cx="10360152" cy="9144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666744"/>
            <a:ext cx="146304" cy="914400"/>
          </a:xfrm>
          <a:prstGeom prst="rect">
            <a:avLst/>
          </a:prstGeom>
          <a:solidFill>
            <a:srgbClr val="B39BFF"/>
          </a:solidFill>
          <a:ln/>
        </p:spPr>
      </p:sp>
      <p:sp>
        <p:nvSpPr>
          <p:cNvPr id="16" name="Text 14"/>
          <p:cNvSpPr/>
          <p:nvPr/>
        </p:nvSpPr>
        <p:spPr>
          <a:xfrm>
            <a:off x="1234440" y="3666744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39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土曜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749040" y="3666744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カメラ撮影 / 教育イベント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686800" y="3666744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成長・人とのつながり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14400" y="4700016"/>
            <a:ext cx="10360152" cy="9144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700016"/>
            <a:ext cx="146304" cy="914400"/>
          </a:xfrm>
          <a:prstGeom prst="rect">
            <a:avLst/>
          </a:prstGeom>
          <a:solidFill>
            <a:srgbClr val="63C79A"/>
          </a:solidFill>
          <a:ln/>
        </p:spPr>
      </p:sp>
      <p:sp>
        <p:nvSpPr>
          <p:cNvPr id="21" name="Text 19"/>
          <p:cNvSpPr/>
          <p:nvPr/>
        </p:nvSpPr>
        <p:spPr>
          <a:xfrm>
            <a:off x="1234440" y="4700016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日曜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749040" y="4700016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コミケ準備 / ラジオ構成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686800" y="4700016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人間関係・好き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一人の中に、いくつもの顔がある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8/53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学生時代のバイト/仕事歴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2286000" cy="2240280"/>
          </a:xfrm>
          <a:prstGeom prst="roundRect">
            <a:avLst>
              <a:gd name="adj" fmla="val 244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pic>
        <p:nvPicPr>
          <p:cNvPr id="4" name="Image 0" descr="assets/photos/san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389888"/>
            <a:ext cx="2066544" cy="20208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63240" y="1280160"/>
            <a:ext cx="320040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サンリオ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ピューロランド レジ係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400800" y="1280160"/>
            <a:ext cx="2286000" cy="2240280"/>
          </a:xfrm>
          <a:prstGeom prst="roundRect">
            <a:avLst>
              <a:gd name="adj" fmla="val 244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pic>
        <p:nvPicPr>
          <p:cNvPr id="7" name="Image 1" descr="assets/photos/rad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389888"/>
            <a:ext cx="2066544" cy="202082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823960" y="1280160"/>
            <a:ext cx="320040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アーティストの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ラジオ番組 構成作家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640080" y="3794760"/>
            <a:ext cx="2286000" cy="2240280"/>
          </a:xfrm>
          <a:prstGeom prst="roundRect">
            <a:avLst>
              <a:gd name="adj" fmla="val 244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pic>
        <p:nvPicPr>
          <p:cNvPr id="10" name="Image 2" descr="assets/photos/comik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9808" y="3904488"/>
            <a:ext cx="2066544" cy="202082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063240" y="3794760"/>
            <a:ext cx="320040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コミケ スタッフ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（更衣室担当）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6400800" y="3794760"/>
            <a:ext cx="2286000" cy="2240280"/>
          </a:xfrm>
          <a:prstGeom prst="roundRect">
            <a:avLst>
              <a:gd name="adj" fmla="val 244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pic>
        <p:nvPicPr>
          <p:cNvPr id="13" name="Image 3" descr="assets/photos/inter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904488"/>
            <a:ext cx="2066544" cy="202082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823960" y="3794760"/>
            <a:ext cx="320040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インターン2社同時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（電車にPC忘れた）</a:t>
            </a:r>
            <a:endParaRPr lang="en-US" sz="1800" dirty="0"/>
          </a:p>
        </p:txBody>
      </p:sp>
      <p:sp>
        <p:nvSpPr>
          <p:cNvPr id="15" name="Text 9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いろんな仕事がありますが……</a:t>
            </a:r>
            <a:endParaRPr lang="en-US" sz="1800" dirty="0"/>
          </a:p>
        </p:txBody>
      </p:sp>
      <p:sp>
        <p:nvSpPr>
          <p:cNvPr id="16" name="Text 10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9/53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FB6E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本業のリアル：Dellってどんな仕事？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10360152" cy="1371600"/>
          </a:xfrm>
          <a:prstGeom prst="roundRect">
            <a:avLst>
              <a:gd name="adj" fmla="val 6667"/>
            </a:avLst>
          </a:prstGeom>
          <a:solidFill>
            <a:srgbClr val="1B2942"/>
          </a:solidFill>
          <a:ln w="31750">
            <a:solidFill>
              <a:srgbClr val="7FB6E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80160" y="137160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パソコンで有名だけど、僕がいるのは</a:t>
            </a:r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FB6E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「企業向けのデータ基盤（ストレージ）」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の部門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4400" y="2926080"/>
            <a:ext cx="10360152" cy="1965960"/>
          </a:xfrm>
          <a:prstGeom prst="roundRect">
            <a:avLst>
              <a:gd name="adj" fmla="val 4651"/>
            </a:avLst>
          </a:prstGeom>
          <a:solidFill>
            <a:srgbClr val="22324F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3063240"/>
            <a:ext cx="96012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銀行・病院・工場・ゲーム会社……あらゆる企業の
</a:t>
            </a:r>
            <a:pPr algn="ctr"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「大事なデータ」を預かり、止めずに守る“縁の下の力持ち”
</a:t>
            </a:r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キーワード：エンタープライズIT / インフラ / ストレージ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スマホやゲームの向こうには、こういう“見えないIT”が必ずいる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10/53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私のDellでの仕事内容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45752" cy="914400"/>
          </a:xfrm>
          <a:prstGeom prst="roundRect">
            <a:avLst>
              <a:gd name="adj" fmla="val 10000"/>
            </a:avLst>
          </a:prstGeom>
          <a:solidFill>
            <a:srgbClr val="22324F"/>
          </a:solidFill>
          <a:ln w="31750">
            <a:solidFill>
              <a:srgbClr val="F6B07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1280160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世界中の企業のITを、止めずに新しくする「調整役」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2423160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23160"/>
            <a:ext cx="201168" cy="841248"/>
          </a:xfrm>
          <a:prstGeom prst="rect">
            <a:avLst/>
          </a:prstGeom>
          <a:solidFill>
            <a:srgbClr val="3AD6C6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2423160"/>
            <a:ext cx="35661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アップグレード調整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846320" y="2423160"/>
            <a:ext cx="62179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顧客企業と日程を調整（日本語メール）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4400" y="3355848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355848"/>
            <a:ext cx="201168" cy="841248"/>
          </a:xfrm>
          <a:prstGeom prst="rect">
            <a:avLst/>
          </a:prstGeom>
          <a:solidFill>
            <a:srgbClr val="B39BFF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3355848"/>
            <a:ext cx="35661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9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ワークオーダー管理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846320" y="3355848"/>
            <a:ext cx="62179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作業指示の作成・追跡・完了確認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4288536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288536"/>
            <a:ext cx="201168" cy="841248"/>
          </a:xfrm>
          <a:prstGeom prst="rect">
            <a:avLst/>
          </a:prstGeom>
          <a:solidFill>
            <a:srgbClr val="7FB6EC"/>
          </a:solidFill>
          <a:ln/>
        </p:spPr>
      </p:sp>
      <p:sp>
        <p:nvSpPr>
          <p:cNvPr id="15" name="Text 13"/>
          <p:cNvSpPr/>
          <p:nvPr/>
        </p:nvSpPr>
        <p:spPr>
          <a:xfrm>
            <a:off x="1234440" y="4288536"/>
            <a:ext cx="35661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FB6E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グローバル連携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846320" y="4288536"/>
            <a:ext cx="62179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アジア太平洋（APJC）チームと英語でやりとり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5221224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5221224"/>
            <a:ext cx="201168" cy="841248"/>
          </a:xfrm>
          <a:prstGeom prst="rect">
            <a:avLst/>
          </a:prstGeom>
          <a:solidFill>
            <a:srgbClr val="63C79A"/>
          </a:solidFill>
          <a:ln/>
        </p:spPr>
      </p:sp>
      <p:sp>
        <p:nvSpPr>
          <p:cNvPr id="19" name="Text 17"/>
          <p:cNvSpPr/>
          <p:nvPr/>
        </p:nvSpPr>
        <p:spPr>
          <a:xfrm>
            <a:off x="1234440" y="5221224"/>
            <a:ext cx="35661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案件・問い合わせ管理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846320" y="5221224"/>
            <a:ext cx="62179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Salesforceでチケット・顧客対応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派手じゃない。でも止まると社会が困る、超重要な裏方の仕事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11/53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この仕事に必要なスキル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10360152" cy="786384"/>
          </a:xfrm>
          <a:prstGeom prst="roundRect">
            <a:avLst>
              <a:gd name="adj" fmla="val 9302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371600"/>
            <a:ext cx="201168" cy="786384"/>
          </a:xfrm>
          <a:prstGeom prst="rect">
            <a:avLst/>
          </a:prstGeom>
          <a:solidFill>
            <a:srgbClr val="F0866B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444752"/>
            <a:ext cx="9720072" cy="4403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段取り力・正確さ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1811975"/>
            <a:ext cx="9720072" cy="3145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1つのミスが、大きな障害につながる世界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267712"/>
            <a:ext cx="10360152" cy="786384"/>
          </a:xfrm>
          <a:prstGeom prst="roundRect">
            <a:avLst>
              <a:gd name="adj" fmla="val 9302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267712"/>
            <a:ext cx="201168" cy="786384"/>
          </a:xfrm>
          <a:prstGeom prst="rect">
            <a:avLst/>
          </a:prstGeom>
          <a:solidFill>
            <a:srgbClr val="3AD6C6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2340864"/>
            <a:ext cx="9720072" cy="4403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調整・コミュニケーション力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80160" y="2708087"/>
            <a:ext cx="9720072" cy="3145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顧客 × 社内 × 海外チームをつなぐ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3163824"/>
            <a:ext cx="10360152" cy="786384"/>
          </a:xfrm>
          <a:prstGeom prst="roundRect">
            <a:avLst>
              <a:gd name="adj" fmla="val 9302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163824"/>
            <a:ext cx="201168" cy="786384"/>
          </a:xfrm>
          <a:prstGeom prst="rect">
            <a:avLst/>
          </a:prstGeom>
          <a:solidFill>
            <a:srgbClr val="7FB6EC"/>
          </a:solidFill>
          <a:ln/>
        </p:spPr>
      </p:sp>
      <p:sp>
        <p:nvSpPr>
          <p:cNvPr id="13" name="Text 11"/>
          <p:cNvSpPr/>
          <p:nvPr/>
        </p:nvSpPr>
        <p:spPr>
          <a:xfrm>
            <a:off x="1280160" y="3236976"/>
            <a:ext cx="9720072" cy="4403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英語（読み書き中心・完璧じゃなくてOK）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280160" y="3604199"/>
            <a:ext cx="9720072" cy="3145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グローバルなチームで働く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14400" y="4059936"/>
            <a:ext cx="10360152" cy="786384"/>
          </a:xfrm>
          <a:prstGeom prst="roundRect">
            <a:avLst>
              <a:gd name="adj" fmla="val 9302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059936"/>
            <a:ext cx="201168" cy="786384"/>
          </a:xfrm>
          <a:prstGeom prst="rect">
            <a:avLst/>
          </a:prstGeom>
          <a:solidFill>
            <a:srgbClr val="B39B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4133088"/>
            <a:ext cx="9720072" cy="4403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ITインフラの基礎知識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280160" y="4500311"/>
            <a:ext cx="9720072" cy="3145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ネットワーク・サーバ・ストレージ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14400" y="4956048"/>
            <a:ext cx="10360152" cy="786384"/>
          </a:xfrm>
          <a:prstGeom prst="roundRect">
            <a:avLst>
              <a:gd name="adj" fmla="val 9302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956048"/>
            <a:ext cx="201168" cy="786384"/>
          </a:xfrm>
          <a:prstGeom prst="rect">
            <a:avLst/>
          </a:prstGeom>
          <a:solidFill>
            <a:srgbClr val="63C79A"/>
          </a:solidFill>
          <a:ln/>
        </p:spPr>
      </p:sp>
      <p:sp>
        <p:nvSpPr>
          <p:cNvPr id="21" name="Text 19"/>
          <p:cNvSpPr/>
          <p:nvPr/>
        </p:nvSpPr>
        <p:spPr>
          <a:xfrm>
            <a:off x="1280160" y="5029200"/>
            <a:ext cx="9720072" cy="4403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学び続ける力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80160" y="5396423"/>
            <a:ext cx="9720072" cy="3145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技術は毎年アップデートされる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「頭のよさ」より「正確に段取りできること」が効く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12/53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向いている人・この仕事の面白さ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417320"/>
            <a:ext cx="4846320" cy="3566160"/>
          </a:xfrm>
          <a:prstGeom prst="roundRect">
            <a:avLst>
              <a:gd name="adj" fmla="val 3077"/>
            </a:avLst>
          </a:prstGeom>
          <a:solidFill>
            <a:srgbClr val="1B2942"/>
          </a:solidFill>
          <a:ln w="31750">
            <a:solidFill>
              <a:srgbClr val="3AD6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4592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向いている人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325880" y="2377440"/>
            <a:ext cx="40233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・コツコツ正確にやれる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・裏方で支えるのが好き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・人との調整が苦じゃない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・英語や新技術に抵抗が少ない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0" y="1417320"/>
            <a:ext cx="4846320" cy="3566160"/>
          </a:xfrm>
          <a:prstGeom prst="roundRect">
            <a:avLst>
              <a:gd name="adj" fmla="val 3077"/>
            </a:avLst>
          </a:prstGeom>
          <a:solidFill>
            <a:srgbClr val="1B2942"/>
          </a:solidFill>
          <a:ln w="31750">
            <a:solidFill>
              <a:srgbClr val="F6B07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164592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この仕事の面白さ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812280" y="2377440"/>
            <a:ext cx="40233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・世界的な企業のインフラを支える誇り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・グローバルに働ける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・IT業界の“土台”がわかる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・止めない＝社会を支えている実感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主役じゃなくても、世界を動かせる仕事がある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13/53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39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IT志望のキミへ：数学 × IT × 暗号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280160"/>
            <a:ext cx="10360152" cy="960120"/>
          </a:xfrm>
          <a:prstGeom prst="roundRect">
            <a:avLst>
              <a:gd name="adj" fmla="val 9524"/>
            </a:avLst>
          </a:prstGeom>
          <a:solidFill>
            <a:srgbClr val="22324F"/>
          </a:solidFill>
          <a:ln w="31750">
            <a:solidFill>
              <a:srgbClr val="B39B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280160"/>
            <a:ext cx="1036015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僕のIT人生は「数学」から始まった　</a:t>
            </a:r>
            <a:pPr algn="ctr" indent="0" marL="0">
              <a:buNone/>
            </a:pPr>
            <a:r>
              <a:rPr lang="en-US" sz="17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（中央大 → 都立大院で数学専攻）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4400" y="2423160"/>
            <a:ext cx="10360152" cy="749808"/>
          </a:xfrm>
          <a:prstGeom prst="roundRect">
            <a:avLst>
              <a:gd name="adj" fmla="val 9756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23160"/>
            <a:ext cx="201168" cy="749808"/>
          </a:xfrm>
          <a:prstGeom prst="rect">
            <a:avLst/>
          </a:prstGeom>
          <a:solidFill>
            <a:srgbClr val="3AD6C6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2423160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暗号 × 実装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794760" y="2423160"/>
            <a:ext cx="7223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量子でも破れない暗号（PQC）を Julia で実装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14400" y="3264408"/>
            <a:ext cx="10360152" cy="749808"/>
          </a:xfrm>
          <a:prstGeom prst="roundRect">
            <a:avLst>
              <a:gd name="adj" fmla="val 9756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264408"/>
            <a:ext cx="201168" cy="749808"/>
          </a:xfrm>
          <a:prstGeom prst="rect">
            <a:avLst/>
          </a:prstGeom>
          <a:solidFill>
            <a:srgbClr val="F6B071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3264408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発信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94760" y="3264408"/>
            <a:ext cx="7223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数学YouTube「うえもっちゃん」／同人誌で解説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914400" y="4105656"/>
            <a:ext cx="10360152" cy="749808"/>
          </a:xfrm>
          <a:prstGeom prst="roundRect">
            <a:avLst>
              <a:gd name="adj" fmla="val 9756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105656"/>
            <a:ext cx="201168" cy="749808"/>
          </a:xfrm>
          <a:prstGeom prst="rect">
            <a:avLst/>
          </a:prstGeom>
          <a:solidFill>
            <a:srgbClr val="7FB6EC"/>
          </a:solidFill>
          <a:ln/>
        </p:spPr>
      </p:sp>
      <p:sp>
        <p:nvSpPr>
          <p:cNvPr id="15" name="Text 13"/>
          <p:cNvSpPr/>
          <p:nvPr/>
        </p:nvSpPr>
        <p:spPr>
          <a:xfrm>
            <a:off x="1234440" y="4105656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B6E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Web開発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94760" y="4105656"/>
            <a:ext cx="7223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Next.js・Supabase でアプリ／SNS を開発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14400" y="4946904"/>
            <a:ext cx="10360152" cy="749808"/>
          </a:xfrm>
          <a:prstGeom prst="roundRect">
            <a:avLst>
              <a:gd name="adj" fmla="val 9756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946904"/>
            <a:ext cx="201168" cy="749808"/>
          </a:xfrm>
          <a:prstGeom prst="rect">
            <a:avLst/>
          </a:prstGeom>
          <a:solidFill>
            <a:srgbClr val="63C79A"/>
          </a:solidFill>
          <a:ln/>
        </p:spPr>
      </p:sp>
      <p:sp>
        <p:nvSpPr>
          <p:cNvPr id="19" name="Text 17"/>
          <p:cNvSpPr/>
          <p:nvPr/>
        </p:nvSpPr>
        <p:spPr>
          <a:xfrm>
            <a:off x="1234440" y="4946904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教育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794760" y="4946904"/>
            <a:ext cx="7223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元SAPIX講師・家庭教師 → 情報の教員免許へ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IT＝コードだけじゃない。数学も英語も「伝える力」も、全部つながって武器になる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14/53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仕事に何を求めますか？？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457200" y="3749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※複数OKです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15/53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411480"/>
            <a:ext cx="4114800" cy="640080"/>
          </a:xfrm>
          <a:prstGeom prst="roundRect">
            <a:avLst>
              <a:gd name="adj" fmla="val 50000"/>
            </a:avLst>
          </a:prstGeom>
          <a:solidFill>
            <a:srgbClr val="F6B071"/>
          </a:solidFill>
          <a:ln/>
        </p:spPr>
      </p:sp>
      <p:sp>
        <p:nvSpPr>
          <p:cNvPr id="3" name="Text 1"/>
          <p:cNvSpPr/>
          <p:nvPr/>
        </p:nvSpPr>
        <p:spPr>
          <a:xfrm>
            <a:off x="4023360" y="41148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WORK ①  まず書いてみよう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仕事に求めるもの、ぜんぶ書き出してみよう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23748" y="2240280"/>
            <a:ext cx="1965960" cy="868680"/>
          </a:xfrm>
          <a:prstGeom prst="roundRect">
            <a:avLst>
              <a:gd name="adj" fmla="val 10526"/>
            </a:avLst>
          </a:prstGeom>
          <a:solidFill>
            <a:srgbClr val="1B2942"/>
          </a:solidFill>
          <a:ln w="31750">
            <a:solidFill>
              <a:srgbClr val="3AD6C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3748" y="2240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給与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918308" y="2240280"/>
            <a:ext cx="1965960" cy="868680"/>
          </a:xfrm>
          <a:prstGeom prst="roundRect">
            <a:avLst>
              <a:gd name="adj" fmla="val 10526"/>
            </a:avLst>
          </a:prstGeom>
          <a:solidFill>
            <a:srgbClr val="1B2942"/>
          </a:solidFill>
          <a:ln w="31750">
            <a:solidFill>
              <a:srgbClr val="F6B0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18308" y="2240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やりがい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112868" y="2240280"/>
            <a:ext cx="1965960" cy="868680"/>
          </a:xfrm>
          <a:prstGeom prst="roundRect">
            <a:avLst>
              <a:gd name="adj" fmla="val 10526"/>
            </a:avLst>
          </a:prstGeom>
          <a:solidFill>
            <a:srgbClr val="1B2942"/>
          </a:solidFill>
          <a:ln w="31750">
            <a:solidFill>
              <a:srgbClr val="63C7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12868" y="2240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成長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07428" y="2240280"/>
            <a:ext cx="1965960" cy="868680"/>
          </a:xfrm>
          <a:prstGeom prst="roundRect">
            <a:avLst>
              <a:gd name="adj" fmla="val 10526"/>
            </a:avLst>
          </a:prstGeom>
          <a:solidFill>
            <a:srgbClr val="1B2942"/>
          </a:solidFill>
          <a:ln w="31750">
            <a:solidFill>
              <a:srgbClr val="F086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07428" y="2240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社会貢献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9501988" y="2240280"/>
            <a:ext cx="1965960" cy="868680"/>
          </a:xfrm>
          <a:prstGeom prst="roundRect">
            <a:avLst>
              <a:gd name="adj" fmla="val 10526"/>
            </a:avLst>
          </a:prstGeom>
          <a:solidFill>
            <a:srgbClr val="1B2942"/>
          </a:solidFill>
          <a:ln w="31750">
            <a:solidFill>
              <a:srgbClr val="B39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1988" y="2240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39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人間関係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463040" y="3566160"/>
            <a:ext cx="9262872" cy="2011680"/>
          </a:xfrm>
          <a:prstGeom prst="roundRect">
            <a:avLst>
              <a:gd name="adj" fmla="val 4545"/>
            </a:avLst>
          </a:prstGeom>
          <a:solidFill>
            <a:srgbClr val="22324F"/>
          </a:solidFill>
          <a:ln w="28575">
            <a:solidFill>
              <a:srgbClr val="F6B07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3749040"/>
            <a:ext cx="8503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① 上の5つから、自分が大事だと思うものを選ぶ（複数OK）
</a:t>
            </a:r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② 「なぜそれが大事か」を一言メモ
</a:t>
            </a:r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 5つ以外でもOK（例：自由な時間、好きな人と働く…）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57200" y="57150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⏱ 制限時間 2分 — 紙でも、頭の中でもOK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16/53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411480"/>
            <a:ext cx="4114800" cy="640080"/>
          </a:xfrm>
          <a:prstGeom prst="roundRect">
            <a:avLst>
              <a:gd name="adj" fmla="val 50000"/>
            </a:avLst>
          </a:prstGeom>
          <a:solidFill>
            <a:srgbClr val="3AD6C6"/>
          </a:solidFill>
          <a:ln/>
        </p:spPr>
      </p:sp>
      <p:sp>
        <p:nvSpPr>
          <p:cNvPr id="3" name="Text 1"/>
          <p:cNvSpPr/>
          <p:nvPr/>
        </p:nvSpPr>
        <p:spPr>
          <a:xfrm>
            <a:off x="4023360" y="41148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WORK ②  みんなのを見てみよう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何人かに聞いてみます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463040" y="2377440"/>
            <a:ext cx="9262872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377440"/>
            <a:ext cx="128016" cy="868680"/>
          </a:xfrm>
          <a:prstGeom prst="rect">
            <a:avLst/>
          </a:prstGeom>
          <a:solidFill>
            <a:srgbClr val="3AD6C6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0" y="2377440"/>
            <a:ext cx="8686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どれを選んだ？　いくつ選んだ？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463040" y="3429000"/>
            <a:ext cx="9262872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63040" y="3429000"/>
            <a:ext cx="128016" cy="868680"/>
          </a:xfrm>
          <a:prstGeom prst="rect">
            <a:avLst/>
          </a:prstGeom>
          <a:solidFill>
            <a:srgbClr val="F6B071"/>
          </a:solidFill>
          <a:ln/>
        </p:spPr>
      </p:sp>
      <p:sp>
        <p:nvSpPr>
          <p:cNvPr id="10" name="Text 8"/>
          <p:cNvSpPr/>
          <p:nvPr/>
        </p:nvSpPr>
        <p:spPr>
          <a:xfrm>
            <a:off x="1828800" y="3429000"/>
            <a:ext cx="8686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一番大事なのはどれ？　その理由は？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463040" y="4480560"/>
            <a:ext cx="9262872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63040" y="4480560"/>
            <a:ext cx="128016" cy="868680"/>
          </a:xfrm>
          <a:prstGeom prst="rect">
            <a:avLst/>
          </a:prstGeom>
          <a:solidFill>
            <a:srgbClr val="B39BFF"/>
          </a:solidFill>
          <a:ln/>
        </p:spPr>
      </p:sp>
      <p:sp>
        <p:nvSpPr>
          <p:cNvPr id="13" name="Text 11"/>
          <p:cNvSpPr/>
          <p:nvPr/>
        </p:nvSpPr>
        <p:spPr>
          <a:xfrm>
            <a:off x="1828800" y="4480560"/>
            <a:ext cx="8686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5つ以外のものを書いた人、教えて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👉 答えは人によってバラバラ。それで正解。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17/53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920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答えは、人によってバラバラ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0175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それで、いい。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でも——全部を「1つの仕事」で満たそうとすると、ちょっと苦しい。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18/53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3AD6C6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ここからが、1つ目の柱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7280" y="25603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柱 ①  </a:t>
            </a:r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1143000" y="41605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一つに全部を賭けない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19/53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仕事に何を求めますか？？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※よく挙がるのは、この5つ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32308" y="26517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1B2942"/>
          </a:solidFill>
          <a:ln w="34925">
            <a:solidFill>
              <a:srgbClr val="3AD6C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2308" y="2651760"/>
            <a:ext cx="1965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給与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872588" y="26517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1B2942"/>
          </a:solidFill>
          <a:ln w="34925">
            <a:solidFill>
              <a:srgbClr val="F6B07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72588" y="2651760"/>
            <a:ext cx="1965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やりがい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112868" y="26517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1B2942"/>
          </a:solidFill>
          <a:ln w="34925">
            <a:solidFill>
              <a:srgbClr val="63C7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12868" y="2651760"/>
            <a:ext cx="1965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成長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353148" y="26517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1B2942"/>
          </a:solidFill>
          <a:ln w="34925">
            <a:solidFill>
              <a:srgbClr val="F086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53148" y="2651760"/>
            <a:ext cx="1965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社会貢献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593428" y="26517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1B2942"/>
          </a:solidFill>
          <a:ln w="34925">
            <a:solidFill>
              <a:srgbClr val="B39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93428" y="2651760"/>
            <a:ext cx="1965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39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人間関係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20/53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03120"/>
            <a:ext cx="11247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全部満たせる仕事、</a:t>
            </a:r>
            <a:endParaRPr lang="en-US" sz="4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見つかりますか？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21/53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”すっごく”ムリムリだ
</a:t>
            </a:r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と思いました……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22/53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そこで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23/53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「集中」のいいところ・しんどいところ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554480"/>
            <a:ext cx="10360152" cy="1554480"/>
          </a:xfrm>
          <a:prstGeom prst="roundRect">
            <a:avLst>
              <a:gd name="adj" fmla="val 5882"/>
            </a:avLst>
          </a:prstGeom>
          <a:solidFill>
            <a:srgbClr val="1B2942"/>
          </a:solidFill>
          <a:ln w="28575">
            <a:solidFill>
              <a:srgbClr val="63C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80160" y="1691640"/>
            <a:ext cx="9601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◎ いいところ
</a:t>
            </a:r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・深く極められる／一点を突き抜けられる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・「これが私」と言いやすい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3291840"/>
            <a:ext cx="10360152" cy="1554480"/>
          </a:xfrm>
          <a:prstGeom prst="roundRect">
            <a:avLst>
              <a:gd name="adj" fmla="val 5882"/>
            </a:avLst>
          </a:prstGeom>
          <a:solidFill>
            <a:srgbClr val="1B2942"/>
          </a:solidFill>
          <a:ln w="28575">
            <a:solidFill>
              <a:srgbClr val="F086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3429000"/>
            <a:ext cx="9601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△ しんどいところ
</a:t>
            </a:r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・コケたとき、全部いっぺんに失う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・視野がせまくなりがち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じゃあ「分散」はどうだろう？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24/53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「分散」のいいところ・しんどいところ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417320"/>
            <a:ext cx="10360152" cy="1737360"/>
          </a:xfrm>
          <a:prstGeom prst="roundRect">
            <a:avLst>
              <a:gd name="adj" fmla="val 5263"/>
            </a:avLst>
          </a:prstGeom>
          <a:solidFill>
            <a:srgbClr val="1B2942"/>
          </a:solidFill>
          <a:ln w="28575">
            <a:solidFill>
              <a:srgbClr val="63C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80160" y="155448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◎ いいところ
</a:t>
            </a:r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・リスクが分かれる（1つコケても平気）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・違う活動どうしが「掛け算」になる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・無理がないから、長く続けられる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3291840"/>
            <a:ext cx="10360152" cy="1371600"/>
          </a:xfrm>
          <a:prstGeom prst="roundRect">
            <a:avLst>
              <a:gd name="adj" fmla="val 6667"/>
            </a:avLst>
          </a:prstGeom>
          <a:solidFill>
            <a:srgbClr val="1B2942"/>
          </a:solidFill>
          <a:ln w="28575">
            <a:solidFill>
              <a:srgbClr val="F086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3429000"/>
            <a:ext cx="9601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△ しんどいところ
</a:t>
            </a:r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・すぐには突き抜けない／時間がかかる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高校生の今は「分散」が向いている、というのが今日の提案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25/53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一つの仕事に「全部」を求めない ： 分散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岡田斗司夫さんの考え方より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8864" y="2194560"/>
            <a:ext cx="2103120" cy="640080"/>
          </a:xfrm>
          <a:prstGeom prst="roundRect">
            <a:avLst>
              <a:gd name="adj" fmla="val 8571"/>
            </a:avLst>
          </a:prstGeom>
          <a:solidFill>
            <a:srgbClr val="F0866B"/>
          </a:solidFill>
          <a:ln/>
        </p:spPr>
      </p:sp>
      <p:sp>
        <p:nvSpPr>
          <p:cNvPr id="5" name="Text 3"/>
          <p:cNvSpPr/>
          <p:nvPr/>
        </p:nvSpPr>
        <p:spPr>
          <a:xfrm>
            <a:off x="508864" y="21945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 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8864" y="292608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1B2942"/>
          </a:solidFill>
          <a:ln w="25400">
            <a:solidFill>
              <a:srgbClr val="F086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8864" y="29260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お金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76576" y="2194560"/>
            <a:ext cx="2103120" cy="640080"/>
          </a:xfrm>
          <a:prstGeom prst="roundRect">
            <a:avLst>
              <a:gd name="adj" fmla="val 8571"/>
            </a:avLst>
          </a:prstGeom>
          <a:solidFill>
            <a:srgbClr val="3AD6C6"/>
          </a:solidFill>
          <a:ln/>
        </p:spPr>
      </p:sp>
      <p:sp>
        <p:nvSpPr>
          <p:cNvPr id="9" name="Text 7"/>
          <p:cNvSpPr/>
          <p:nvPr/>
        </p:nvSpPr>
        <p:spPr>
          <a:xfrm>
            <a:off x="2776576" y="21945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 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76576" y="292608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1B2942"/>
          </a:solidFill>
          <a:ln w="25400">
            <a:solidFill>
              <a:srgbClr val="3AD6C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76576" y="29260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やりがい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44288" y="2194560"/>
            <a:ext cx="2103120" cy="640080"/>
          </a:xfrm>
          <a:prstGeom prst="roundRect">
            <a:avLst>
              <a:gd name="adj" fmla="val 8571"/>
            </a:avLst>
          </a:prstGeom>
          <a:solidFill>
            <a:srgbClr val="B39BFF"/>
          </a:solidFill>
          <a:ln/>
        </p:spPr>
      </p:sp>
      <p:sp>
        <p:nvSpPr>
          <p:cNvPr id="13" name="Text 11"/>
          <p:cNvSpPr/>
          <p:nvPr/>
        </p:nvSpPr>
        <p:spPr>
          <a:xfrm>
            <a:off x="5044288" y="21945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 C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044288" y="292608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1B2942"/>
          </a:solidFill>
          <a:ln w="25400">
            <a:solidFill>
              <a:srgbClr val="B39B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44288" y="29260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9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人間関係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12000" y="2194560"/>
            <a:ext cx="2103120" cy="640080"/>
          </a:xfrm>
          <a:prstGeom prst="roundRect">
            <a:avLst>
              <a:gd name="adj" fmla="val 8571"/>
            </a:avLst>
          </a:prstGeom>
          <a:solidFill>
            <a:srgbClr val="63C79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2000" y="21945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 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312000" y="292608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1B2942"/>
          </a:solidFill>
          <a:ln w="25400">
            <a:solidFill>
              <a:srgbClr val="63C7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2000" y="29260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社会貢献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579712" y="2194560"/>
            <a:ext cx="2103120" cy="640080"/>
          </a:xfrm>
          <a:prstGeom prst="roundRect">
            <a:avLst>
              <a:gd name="adj" fmla="val 8571"/>
            </a:avLst>
          </a:prstGeom>
          <a:solidFill>
            <a:srgbClr val="F6B071"/>
          </a:solidFill>
          <a:ln/>
        </p:spPr>
      </p:sp>
      <p:sp>
        <p:nvSpPr>
          <p:cNvPr id="21" name="Text 19"/>
          <p:cNvSpPr/>
          <p:nvPr/>
        </p:nvSpPr>
        <p:spPr>
          <a:xfrm>
            <a:off x="9579712" y="21945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 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579712" y="292608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1B2942"/>
          </a:solidFill>
          <a:ln w="25400">
            <a:solidFill>
              <a:srgbClr val="F6B07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79712" y="29260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成長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57200" y="42976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お金はA、やりがいはB、人間関係はC……と「分けて」手に入れる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これを自分に当てはめると……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26/53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私の場合の「分散」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554480"/>
            <a:ext cx="9445752" cy="822960"/>
          </a:xfrm>
          <a:prstGeom prst="roundRect">
            <a:avLst>
              <a:gd name="adj" fmla="val 888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1554480"/>
            <a:ext cx="146304" cy="822960"/>
          </a:xfrm>
          <a:prstGeom prst="rect">
            <a:avLst/>
          </a:prstGeom>
          <a:solidFill>
            <a:srgbClr val="F0866B"/>
          </a:solidFill>
          <a:ln/>
        </p:spPr>
      </p:sp>
      <p:sp>
        <p:nvSpPr>
          <p:cNvPr id="5" name="Text 3"/>
          <p:cNvSpPr/>
          <p:nvPr/>
        </p:nvSpPr>
        <p:spPr>
          <a:xfrm>
            <a:off x="1737360" y="15544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Dell（本業）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772400" y="15544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→ お金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371600" y="2487168"/>
            <a:ext cx="9445752" cy="822960"/>
          </a:xfrm>
          <a:prstGeom prst="roundRect">
            <a:avLst>
              <a:gd name="adj" fmla="val 888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71600" y="2487168"/>
            <a:ext cx="146304" cy="822960"/>
          </a:xfrm>
          <a:prstGeom prst="rect">
            <a:avLst/>
          </a:prstGeom>
          <a:solidFill>
            <a:srgbClr val="3AD6C6"/>
          </a:solidFill>
          <a:ln/>
        </p:spPr>
      </p:sp>
      <p:sp>
        <p:nvSpPr>
          <p:cNvPr id="9" name="Text 7"/>
          <p:cNvSpPr/>
          <p:nvPr/>
        </p:nvSpPr>
        <p:spPr>
          <a:xfrm>
            <a:off x="1737360" y="2487168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まなびぱれっと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772400" y="248716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→ やりがい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371600" y="3419856"/>
            <a:ext cx="9445752" cy="822960"/>
          </a:xfrm>
          <a:prstGeom prst="roundRect">
            <a:avLst>
              <a:gd name="adj" fmla="val 888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3419856"/>
            <a:ext cx="146304" cy="822960"/>
          </a:xfrm>
          <a:prstGeom prst="rect">
            <a:avLst/>
          </a:prstGeom>
          <a:solidFill>
            <a:srgbClr val="F6B071"/>
          </a:solidFill>
          <a:ln/>
        </p:spPr>
      </p:sp>
      <p:sp>
        <p:nvSpPr>
          <p:cNvPr id="13" name="Text 11"/>
          <p:cNvSpPr/>
          <p:nvPr/>
        </p:nvSpPr>
        <p:spPr>
          <a:xfrm>
            <a:off x="1737360" y="3419856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カメラ / 同人誌・小説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772400" y="3419856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→ 成長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371600" y="4352544"/>
            <a:ext cx="9445752" cy="822960"/>
          </a:xfrm>
          <a:prstGeom prst="roundRect">
            <a:avLst>
              <a:gd name="adj" fmla="val 888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71600" y="4352544"/>
            <a:ext cx="146304" cy="822960"/>
          </a:xfrm>
          <a:prstGeom prst="rect">
            <a:avLst/>
          </a:prstGeom>
          <a:solidFill>
            <a:srgbClr val="B39BFF"/>
          </a:solidFill>
          <a:ln/>
        </p:spPr>
      </p:sp>
      <p:sp>
        <p:nvSpPr>
          <p:cNvPr id="17" name="Text 15"/>
          <p:cNvSpPr/>
          <p:nvPr/>
        </p:nvSpPr>
        <p:spPr>
          <a:xfrm>
            <a:off x="1737360" y="4352544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コミケスタッフ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7772400" y="4352544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9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→ 人間関係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1371600" y="5349240"/>
            <a:ext cx="9445752" cy="777240"/>
          </a:xfrm>
          <a:prstGeom prst="roundRect">
            <a:avLst>
              <a:gd name="adj" fmla="val 9412"/>
            </a:avLst>
          </a:prstGeom>
          <a:solidFill>
            <a:srgbClr val="22324F"/>
          </a:solidFill>
          <a:ln w="28575">
            <a:solidFill>
              <a:srgbClr val="63C7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5349240"/>
            <a:ext cx="94457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一つの仕事が多少しんどくても、他のところでバランスが取れる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27/53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0" y="822960"/>
            <a:ext cx="8531352" cy="822960"/>
          </a:xfrm>
          <a:prstGeom prst="roundRect">
            <a:avLst>
              <a:gd name="adj" fmla="val 11111"/>
            </a:avLst>
          </a:prstGeom>
          <a:solidFill>
            <a:srgbClr val="1B2942"/>
          </a:solidFill>
          <a:ln w="31750">
            <a:solidFill>
              <a:srgbClr val="F086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0" y="822960"/>
            <a:ext cx="8531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「分散って、ただの器用貧乏では？」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——よく言われます。でも、こう考えています。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246888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68880"/>
            <a:ext cx="201168" cy="960120"/>
          </a:xfrm>
          <a:prstGeom prst="rect">
            <a:avLst/>
          </a:prstGeom>
          <a:solidFill>
            <a:srgbClr val="3AD6C6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2468880"/>
            <a:ext cx="97200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① 突き抜ける人も、最初は「いろいろ試す」から始まっている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365760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657600"/>
            <a:ext cx="201168" cy="960120"/>
          </a:xfrm>
          <a:prstGeom prst="rect">
            <a:avLst/>
          </a:prstGeom>
          <a:solidFill>
            <a:srgbClr val="B39BFF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3657600"/>
            <a:ext cx="97200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② バラバラの経験は、つながると「自分だけの武器」になる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" y="484632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846320"/>
            <a:ext cx="201168" cy="960120"/>
          </a:xfrm>
          <a:prstGeom prst="rect">
            <a:avLst/>
          </a:prstGeom>
          <a:solidFill>
            <a:srgbClr val="63C79A"/>
          </a:solidFill>
          <a:ln/>
        </p:spPr>
      </p:sp>
      <p:sp>
        <p:nvSpPr>
          <p:cNvPr id="13" name="Text 11"/>
          <p:cNvSpPr/>
          <p:nvPr/>
        </p:nvSpPr>
        <p:spPr>
          <a:xfrm>
            <a:off x="1280160" y="4846320"/>
            <a:ext cx="97200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 続けられる人が、結局いちばん遠くまで行ける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28/53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バラバラの「好き」は、ある日つながる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分散は、足し算じゃなくて掛け算になる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97280" y="1783080"/>
            <a:ext cx="9994392" cy="1143000"/>
          </a:xfrm>
          <a:prstGeom prst="roundRect">
            <a:avLst>
              <a:gd name="adj" fmla="val 6400"/>
            </a:avLst>
          </a:prstGeom>
          <a:solidFill>
            <a:srgbClr val="1B2942"/>
          </a:solidFill>
          <a:ln w="28575">
            <a:solidFill>
              <a:srgbClr val="3AD6C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63040" y="1783080"/>
            <a:ext cx="9326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数学</a:t>
            </a:r>
            <a:pPr algn="ctr" indent="0" marL="0">
              <a:buNone/>
            </a:pPr>
            <a:r>
              <a:rPr lang="en-US" sz="22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　×　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プログラミング</a:t>
            </a:r>
            <a:pPr algn="ctr" indent="0" marL="0">
              <a:buNone/>
            </a:pPr>
            <a:r>
              <a:rPr lang="en-US" sz="22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　＝　</a:t>
            </a:r>
            <a:pPr algn="ctr" indent="0" marL="0">
              <a:buNone/>
            </a:pPr>
            <a:r>
              <a:rPr lang="en-US" sz="22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量子でも破れない暗号を実装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097280" y="3063240"/>
            <a:ext cx="9994392" cy="1143000"/>
          </a:xfrm>
          <a:prstGeom prst="roundRect">
            <a:avLst>
              <a:gd name="adj" fmla="val 6400"/>
            </a:avLst>
          </a:prstGeom>
          <a:solidFill>
            <a:srgbClr val="1B2942"/>
          </a:solidFill>
          <a:ln w="28575">
            <a:solidFill>
              <a:srgbClr val="B39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63040" y="3063240"/>
            <a:ext cx="9326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カメラ</a:t>
            </a:r>
            <a:pPr algn="ctr" indent="0" marL="0">
              <a:buNone/>
            </a:pPr>
            <a:r>
              <a:rPr lang="en-US" sz="2200" b="1" dirty="0">
                <a:solidFill>
                  <a:srgbClr val="B39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　×　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教育</a:t>
            </a:r>
            <a:pPr algn="ctr" indent="0" marL="0">
              <a:buNone/>
            </a:pPr>
            <a:r>
              <a:rPr lang="en-US" sz="2200" b="1" dirty="0">
                <a:solidFill>
                  <a:srgbClr val="B39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　＝　</a:t>
            </a:r>
            <a:pPr algn="ctr" indent="0" marL="0">
              <a:buNone/>
            </a:pPr>
            <a:r>
              <a:rPr lang="en-US" sz="2200" b="1" dirty="0">
                <a:solidFill>
                  <a:srgbClr val="B39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教材・スクール撮影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97280" y="4343400"/>
            <a:ext cx="9994392" cy="1143000"/>
          </a:xfrm>
          <a:prstGeom prst="roundRect">
            <a:avLst>
              <a:gd name="adj" fmla="val 6400"/>
            </a:avLst>
          </a:prstGeom>
          <a:solidFill>
            <a:srgbClr val="1B2942"/>
          </a:solidFill>
          <a:ln w="28575">
            <a:solidFill>
              <a:srgbClr val="63C7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63040" y="4343400"/>
            <a:ext cx="9326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企画</a:t>
            </a:r>
            <a:pPr algn="ctr" indent="0" marL="0">
              <a:buNone/>
            </a:pPr>
            <a:r>
              <a:rPr lang="en-US" sz="22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　×　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コミュニティ</a:t>
            </a:r>
            <a:pPr algn="ctr" indent="0" marL="0">
              <a:buNone/>
            </a:pPr>
            <a:r>
              <a:rPr lang="en-US" sz="22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　＝　</a:t>
            </a:r>
            <a:pPr algn="ctr" indent="0" marL="0">
              <a:buNone/>
            </a:pPr>
            <a:r>
              <a:rPr lang="en-US" sz="22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イベント運営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なんでこの考えに至ったのか……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29/53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とにかく失敗が多かった……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97280" y="1600200"/>
            <a:ext cx="9994392" cy="1005840"/>
          </a:xfrm>
          <a:prstGeom prst="roundRect">
            <a:avLst>
              <a:gd name="adj" fmla="val 7273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1856232"/>
            <a:ext cx="502920" cy="502920"/>
          </a:xfrm>
          <a:prstGeom prst="ellipse">
            <a:avLst/>
          </a:prstGeom>
          <a:solidFill>
            <a:srgbClr val="F0866B"/>
          </a:solidFill>
          <a:ln/>
        </p:spPr>
      </p:sp>
      <p:sp>
        <p:nvSpPr>
          <p:cNvPr id="5" name="Text 3"/>
          <p:cNvSpPr/>
          <p:nvPr/>
        </p:nvSpPr>
        <p:spPr>
          <a:xfrm>
            <a:off x="1325880" y="1856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57400" y="1600200"/>
            <a:ext cx="8869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インターン2社同時 → 電車に2社分のPCを忘れた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097280" y="2788920"/>
            <a:ext cx="9994392" cy="1005840"/>
          </a:xfrm>
          <a:prstGeom prst="roundRect">
            <a:avLst>
              <a:gd name="adj" fmla="val 7273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25880" y="3044952"/>
            <a:ext cx="502920" cy="502920"/>
          </a:xfrm>
          <a:prstGeom prst="ellipse">
            <a:avLst/>
          </a:prstGeom>
          <a:solidFill>
            <a:srgbClr val="F6B071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3044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057400" y="2788920"/>
            <a:ext cx="8869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大学を留年した（学費は自分で払った……）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097280" y="3977640"/>
            <a:ext cx="9994392" cy="1005840"/>
          </a:xfrm>
          <a:prstGeom prst="roundRect">
            <a:avLst>
              <a:gd name="adj" fmla="val 7273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25880" y="4233672"/>
            <a:ext cx="502920" cy="502920"/>
          </a:xfrm>
          <a:prstGeom prst="ellipse">
            <a:avLst/>
          </a:prstGeom>
          <a:solidFill>
            <a:srgbClr val="3AD6C6"/>
          </a:solidFill>
          <a:ln/>
        </p:spPr>
      </p:sp>
      <p:sp>
        <p:nvSpPr>
          <p:cNvPr id="13" name="Text 11"/>
          <p:cNvSpPr/>
          <p:nvPr/>
        </p:nvSpPr>
        <p:spPr>
          <a:xfrm>
            <a:off x="1325880" y="4233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057400" y="3977640"/>
            <a:ext cx="8869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仕事でも同じ構造のミスを繰り返した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中でも忘れられないのが……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30/53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失敗エピソード 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インターンを2社、同時にやった結果……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71600" y="2194560"/>
            <a:ext cx="9445752" cy="2377440"/>
          </a:xfrm>
          <a:prstGeom prst="roundRect">
            <a:avLst>
              <a:gd name="adj" fmla="val 3846"/>
            </a:avLst>
          </a:prstGeom>
          <a:solidFill>
            <a:srgbClr val="1B2942"/>
          </a:solidFill>
          <a:ln w="28575">
            <a:solidFill>
              <a:srgbClr val="F086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37360" y="237744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電車に、2社分のノートPCを忘れた
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頭が真っ白。会社にも平謝り。</a:t>
            </a:r>
            <a:endParaRPr lang="en-US" sz="2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「両立」って、見た目以上に難しい。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※どうやって取り返したかは、Q&amp;Aで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31/53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失敗エピソード ②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大学を、留年した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371600" y="2194560"/>
            <a:ext cx="9445752" cy="2377440"/>
          </a:xfrm>
          <a:prstGeom prst="roundRect">
            <a:avLst>
              <a:gd name="adj" fmla="val 3846"/>
            </a:avLst>
          </a:prstGeom>
          <a:solidFill>
            <a:srgbClr val="1B2942"/>
          </a:solidFill>
          <a:ln w="28575">
            <a:solidFill>
              <a:srgbClr val="F6B0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37360" y="237744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色々やりすぎて、単位を落とした。
学費は、自分で払った。
</a:t>
            </a:r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正直しんどかった。でも——「終わり」ではなかった。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32/53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でも、折れなかった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1371600" y="2651760"/>
            <a:ext cx="9445752" cy="2103120"/>
          </a:xfrm>
          <a:prstGeom prst="roundRect">
            <a:avLst>
              <a:gd name="adj" fmla="val 4348"/>
            </a:avLst>
          </a:prstGeom>
          <a:solidFill>
            <a:srgbClr val="22324F"/>
          </a:solidFill>
          <a:ln w="31750">
            <a:solidFill>
              <a:srgbClr val="3AD6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37360" y="2834640"/>
            <a:ext cx="8686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一つコケても、他の活動が残っていたから。
</a:t>
            </a:r>
            <a:pPr algn="ctr" indent="0" marL="0">
              <a:lnSpc>
                <a:spcPct val="120000"/>
              </a:lnSpc>
              <a:buNone/>
            </a:pPr>
            <a:endParaRPr lang="en-US" sz="2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「分散」は、心を守るセーフティネットにもなる。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だから、進路の話に戻ります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33/53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明治に上がる人へ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97280" y="1463040"/>
            <a:ext cx="9994392" cy="1371600"/>
          </a:xfrm>
          <a:prstGeom prst="roundRect">
            <a:avLst>
              <a:gd name="adj" fmla="val 6667"/>
            </a:avLst>
          </a:prstGeom>
          <a:solidFill>
            <a:srgbClr val="1B2942"/>
          </a:solidFill>
          <a:ln w="31750">
            <a:solidFill>
              <a:srgbClr val="63C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63040" y="1600200"/>
            <a:ext cx="9235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内部進学は、立派な選択。
</a:t>
            </a:r>
            <a:pPr algn="ctr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「分散しよう」は、レールを否定する話じゃない。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97280" y="3063240"/>
            <a:ext cx="9994392" cy="2103120"/>
          </a:xfrm>
          <a:prstGeom prst="roundRect">
            <a:avLst>
              <a:gd name="adj" fmla="val 4348"/>
            </a:avLst>
          </a:prstGeom>
          <a:solidFill>
            <a:srgbClr val="22324F"/>
          </a:solidFill>
          <a:ln w="34925">
            <a:solidFill>
              <a:srgbClr val="F6B07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3246120"/>
            <a:ext cx="9235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その上で——
</a:t>
            </a:r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「大学の4年間で “何を” 分散させるか」
</a:t>
            </a:r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を、今から考えておくと、めちゃくちゃ強い。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じゃあ、何を分散させる？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34/53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大学の4年間で、分散できること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B2942"/>
          </a:solidFill>
          <a:ln w="28575">
            <a:solidFill>
              <a:srgbClr val="3AD6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554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📚 </a:t>
            </a:r>
            <a:pPr indent="0" marL="0">
              <a:buNone/>
            </a:pPr>
            <a:r>
              <a:rPr lang="en-US" sz="17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学問・研究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専攻＋他学部の授業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17720" y="141732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B2942"/>
          </a:solidFill>
          <a:ln w="28575">
            <a:solidFill>
              <a:srgbClr val="B39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1554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🎭 </a:t>
            </a:r>
            <a:pPr indent="0" marL="0">
              <a:buNone/>
            </a:pPr>
            <a:r>
              <a:rPr lang="en-US" sz="1700" b="1" dirty="0">
                <a:solidFill>
                  <a:srgbClr val="B39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サークル・部活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846320" y="21031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好きを深める仲間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732520" y="141732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B2942"/>
          </a:solidFill>
          <a:ln w="28575">
            <a:solidFill>
              <a:srgbClr val="F6B07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15400" y="1554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💼 </a:t>
            </a:r>
            <a:pPr indent="0" marL="0">
              <a:buNone/>
            </a:pPr>
            <a:r>
              <a:rPr lang="en-US" sz="17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長期インターン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961120" y="21031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社会を先に味見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" y="31546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B2942"/>
          </a:solidFill>
          <a:ln w="28575">
            <a:solidFill>
              <a:srgbClr val="7FB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29184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✈ </a:t>
            </a:r>
            <a:pPr indent="0" marL="0">
              <a:buNone/>
            </a:pPr>
            <a:r>
              <a:rPr lang="en-US" sz="1700" b="1" dirty="0">
                <a:solidFill>
                  <a:srgbClr val="7FB6E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留学・旅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384048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世界を広げる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617720" y="31546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B2942"/>
          </a:solidFill>
          <a:ln w="28575">
            <a:solidFill>
              <a:srgbClr val="F086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329184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🚀 </a:t>
            </a:r>
            <a:pPr indent="0" marL="0">
              <a:buNone/>
            </a:pPr>
            <a:r>
              <a:rPr lang="en-US" sz="1700" b="1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副業・起業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846320" y="384048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小さく自分で稼ぐ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732520" y="31546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B2942"/>
          </a:solidFill>
          <a:ln w="28575">
            <a:solidFill>
              <a:srgbClr val="63C7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15400" y="329184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🤝 </a:t>
            </a:r>
            <a:pPr indent="0" marL="0">
              <a:buNone/>
            </a:pPr>
            <a:r>
              <a:rPr lang="en-US" sz="17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コミュニティ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961120" y="384048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学外の居場所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全部やらなくていい。種を「複数」まいておくだけ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35/53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そこで提案します！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77724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進路を「分散」しませんか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10360152" cy="1143000"/>
          </a:xfrm>
          <a:prstGeom prst="roundRect">
            <a:avLst>
              <a:gd name="adj" fmla="val 6400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201168" cy="1143000"/>
          </a:xfrm>
          <a:prstGeom prst="rect">
            <a:avLst/>
          </a:prstGeom>
          <a:solidFill>
            <a:srgbClr val="3AD6C6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039112"/>
            <a:ext cx="97200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「好き」は、複数持っておいていい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80160" y="2606040"/>
            <a:ext cx="9720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一つに絞らなくていい。今のうちに増やしておく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14400" y="3246120"/>
            <a:ext cx="10360152" cy="1143000"/>
          </a:xfrm>
          <a:prstGeom prst="roundRect">
            <a:avLst>
              <a:gd name="adj" fmla="val 6400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246120"/>
            <a:ext cx="201168" cy="1143000"/>
          </a:xfrm>
          <a:prstGeom prst="rect">
            <a:avLst/>
          </a:prstGeom>
          <a:solidFill>
            <a:srgbClr val="B39BFF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3319272"/>
            <a:ext cx="97200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没頭できる物語は無数にある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80160" y="3886200"/>
            <a:ext cx="9720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——燃え尽きるほど一点に賭けなくていい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14400" y="4526280"/>
            <a:ext cx="10360152" cy="1143000"/>
          </a:xfrm>
          <a:prstGeom prst="roundRect">
            <a:avLst>
              <a:gd name="adj" fmla="val 6400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4526280"/>
            <a:ext cx="201168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599432"/>
            <a:ext cx="97200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これからの3年間・大学の4年間をどう使うか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280160" y="5166360"/>
            <a:ext cx="9720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進路は“いつ決めるか”より“どう分散させておくか”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……でも、分散には、もう一つ大事な相棒がいます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36/53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6B071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そして、もう一つの柱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7280" y="25603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柱 ②  </a:t>
            </a:r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場をつくる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1143000" y="41605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「客」をやめて、つくる側に回る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37/53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もう一つだけ。「客」をやめてみる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9994392" cy="1554480"/>
          </a:xfrm>
          <a:prstGeom prst="roundRect">
            <a:avLst>
              <a:gd name="adj" fmla="val 5882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63040" y="1554480"/>
            <a:ext cx="9235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イベントも、部活も、教室も——</a:t>
            </a:r>
            <a:endParaRPr lang="en-US" sz="2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参加する「だけ」じゃなく、つくる側／運営側に一回立ってみる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356616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見える景色が、180°変わる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文化祭、お客さんで回るのと企画する側。どっちが記憶に残る？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38/53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そもそも「場」って？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828800" y="1554480"/>
            <a:ext cx="8531352" cy="1097280"/>
          </a:xfrm>
          <a:prstGeom prst="roundRect">
            <a:avLst>
              <a:gd name="adj" fmla="val 8333"/>
            </a:avLst>
          </a:prstGeom>
          <a:solidFill>
            <a:srgbClr val="22324F"/>
          </a:solidFill>
          <a:ln w="31750">
            <a:solidFill>
              <a:srgbClr val="3AD6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8800" y="1554480"/>
            <a:ext cx="85313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人が集まって、何かが生まれるところ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234440" y="3017520"/>
            <a:ext cx="3383280" cy="777240"/>
          </a:xfrm>
          <a:prstGeom prst="roundRect">
            <a:avLst>
              <a:gd name="adj" fmla="val 47059"/>
            </a:avLst>
          </a:prstGeom>
          <a:solidFill>
            <a:srgbClr val="1B2942"/>
          </a:solidFill>
          <a:ln w="28575">
            <a:solidFill>
              <a:srgbClr val="3AD6C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301752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教室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846320" y="3017520"/>
            <a:ext cx="3383280" cy="777240"/>
          </a:xfrm>
          <a:prstGeom prst="roundRect">
            <a:avLst>
              <a:gd name="adj" fmla="val 47059"/>
            </a:avLst>
          </a:prstGeom>
          <a:solidFill>
            <a:srgbClr val="1B2942"/>
          </a:solidFill>
          <a:ln w="28575">
            <a:solidFill>
              <a:srgbClr val="B39B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301752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39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部活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458200" y="3017520"/>
            <a:ext cx="3383280" cy="777240"/>
          </a:xfrm>
          <a:prstGeom prst="roundRect">
            <a:avLst>
              <a:gd name="adj" fmla="val 47059"/>
            </a:avLst>
          </a:prstGeom>
          <a:solidFill>
            <a:srgbClr val="1B2942"/>
          </a:solidFill>
          <a:ln w="28575">
            <a:solidFill>
              <a:srgbClr val="F086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58200" y="301752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コミケ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1234440" y="4023360"/>
            <a:ext cx="3383280" cy="777240"/>
          </a:xfrm>
          <a:prstGeom prst="roundRect">
            <a:avLst>
              <a:gd name="adj" fmla="val 47059"/>
            </a:avLst>
          </a:prstGeom>
          <a:solidFill>
            <a:srgbClr val="1B2942"/>
          </a:solidFill>
          <a:ln w="28575">
            <a:solidFill>
              <a:srgbClr val="63C7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40233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LINEグループ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846320" y="4023360"/>
            <a:ext cx="3383280" cy="777240"/>
          </a:xfrm>
          <a:prstGeom prst="roundRect">
            <a:avLst>
              <a:gd name="adj" fmla="val 47059"/>
            </a:avLst>
          </a:prstGeom>
          <a:solidFill>
            <a:srgbClr val="1B2942"/>
          </a:solidFill>
          <a:ln w="28575">
            <a:solidFill>
              <a:srgbClr val="F6B07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40233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文化祭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458200" y="4023360"/>
            <a:ext cx="3383280" cy="777240"/>
          </a:xfrm>
          <a:prstGeom prst="roundRect">
            <a:avLst>
              <a:gd name="adj" fmla="val 47059"/>
            </a:avLst>
          </a:prstGeom>
          <a:solidFill>
            <a:srgbClr val="1B2942"/>
          </a:solidFill>
          <a:ln w="28575">
            <a:solidFill>
              <a:srgbClr val="7FB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8200" y="40233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FB6E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この講話も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大それたものじゃない。2人集まれば、もう「場」。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39/53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「客」と「つくる側」、何が違う？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463040"/>
            <a:ext cx="4846320" cy="3200400"/>
          </a:xfrm>
          <a:prstGeom prst="roundRect">
            <a:avLst>
              <a:gd name="adj" fmla="val 3429"/>
            </a:avLst>
          </a:prstGeom>
          <a:solidFill>
            <a:srgbClr val="1B2942"/>
          </a:solidFill>
          <a:ln w="31750">
            <a:solidFill>
              <a:srgbClr val="F086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916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客のまま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371600" y="2468880"/>
            <a:ext cx="39319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・受け取るだけ</a:t>
            </a:r>
            <a:endParaRPr lang="en-US" sz="2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・記憶に残りにくい</a:t>
            </a:r>
            <a:endParaRPr lang="en-US" sz="2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・つながりは浅い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400800" y="1463040"/>
            <a:ext cx="4846320" cy="3200400"/>
          </a:xfrm>
          <a:prstGeom prst="roundRect">
            <a:avLst>
              <a:gd name="adj" fmla="val 3429"/>
            </a:avLst>
          </a:prstGeom>
          <a:solidFill>
            <a:srgbClr val="1B2942"/>
          </a:solidFill>
          <a:ln w="31750">
            <a:solidFill>
              <a:srgbClr val="3AD6C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16916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つくる側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858000" y="2468880"/>
            <a:ext cx="39319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・自分ごとになる</a:t>
            </a:r>
            <a:endParaRPr lang="en-US" sz="2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・濃い経験が残る</a:t>
            </a:r>
            <a:endParaRPr lang="en-US" sz="2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・人とつながる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一回でいいから、つくる側に立ってみてほしい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40/53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僕がつくってきた「場」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463040"/>
            <a:ext cx="5029200" cy="1691640"/>
          </a:xfrm>
          <a:prstGeom prst="roundRect">
            <a:avLst>
              <a:gd name="adj" fmla="val 5405"/>
            </a:avLst>
          </a:prstGeom>
          <a:solidFill>
            <a:srgbClr val="1B2942"/>
          </a:solidFill>
          <a:ln w="28575">
            <a:solidFill>
              <a:srgbClr val="7FB6E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463040"/>
            <a:ext cx="10058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🏛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286000" y="1463040"/>
            <a:ext cx="3474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FB6E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コミケ運営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更衣室担当のスタッフ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5029200" cy="1691640"/>
          </a:xfrm>
          <a:prstGeom prst="roundRect">
            <a:avLst>
              <a:gd name="adj" fmla="val 5405"/>
            </a:avLst>
          </a:prstGeom>
          <a:solidFill>
            <a:srgbClr val="1B2942"/>
          </a:solidFill>
          <a:ln w="28575">
            <a:solidFill>
              <a:srgbClr val="F086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0" y="1463040"/>
            <a:ext cx="10058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🏫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680960" y="1463040"/>
            <a:ext cx="3474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まなびの場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まなびハウス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5029200" cy="1691640"/>
          </a:xfrm>
          <a:prstGeom prst="roundRect">
            <a:avLst>
              <a:gd name="adj" fmla="val 5405"/>
            </a:avLst>
          </a:prstGeom>
          <a:solidFill>
            <a:srgbClr val="1B2942"/>
          </a:solidFill>
          <a:ln w="28575">
            <a:solidFill>
              <a:srgbClr val="63C7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474720"/>
            <a:ext cx="10058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🚌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286000" y="3474720"/>
            <a:ext cx="3474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バス旅行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企画・運営・運転まで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3474720"/>
            <a:ext cx="5029200" cy="1691640"/>
          </a:xfrm>
          <a:prstGeom prst="roundRect">
            <a:avLst>
              <a:gd name="adj" fmla="val 5405"/>
            </a:avLst>
          </a:prstGeom>
          <a:solidFill>
            <a:srgbClr val="1B2942"/>
          </a:solidFill>
          <a:ln w="28575">
            <a:solidFill>
              <a:srgbClr val="F6B07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3474720"/>
            <a:ext cx="10058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🎤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680960" y="3474720"/>
            <a:ext cx="3474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この講話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今この時間も一つの場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バラバラに見える活動、実は全部「場」だった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41/53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場は、小さくていい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914400" y="2651760"/>
            <a:ext cx="10360152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651760"/>
            <a:ext cx="201168" cy="868680"/>
          </a:xfrm>
          <a:prstGeom prst="rect">
            <a:avLst/>
          </a:prstGeom>
          <a:solidFill>
            <a:srgbClr val="3AD6C6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2651760"/>
            <a:ext cx="97200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友だち2人で始める勉強会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3749040"/>
            <a:ext cx="10360152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49040"/>
            <a:ext cx="201168" cy="868680"/>
          </a:xfrm>
          <a:prstGeom prst="rect">
            <a:avLst/>
          </a:prstGeom>
          <a:solidFill>
            <a:srgbClr val="B39BFF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3749040"/>
            <a:ext cx="97200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好きな人を集めた撮影会・上映会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4846320"/>
            <a:ext cx="10360152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846320"/>
            <a:ext cx="201168" cy="868680"/>
          </a:xfrm>
          <a:prstGeom prst="rect">
            <a:avLst/>
          </a:prstGeom>
          <a:solidFill>
            <a:srgbClr val="F6B071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4846320"/>
            <a:ext cx="97200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クラスの小さな企画・出し物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" y="5669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いきなり大きくしなくていい。小さく始める。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42/53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つくる側に回って、変わったこと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9994392" cy="3200400"/>
          </a:xfrm>
          <a:prstGeom prst="roundRect">
            <a:avLst>
              <a:gd name="adj" fmla="val 2857"/>
            </a:avLst>
          </a:prstGeom>
          <a:solidFill>
            <a:srgbClr val="1B2942"/>
          </a:solidFill>
          <a:ln w="28575">
            <a:solidFill>
              <a:srgbClr val="63C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554480" y="1737360"/>
            <a:ext cx="90525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コミケの更衣室担当、まなびの場づくり——
</a:t>
            </a:r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「参加者」から「運営」に回った瞬間、
</a:t>
            </a:r>
            <a:pPr algn="ctr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急に、人とつながれた。
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バラバラだった僕の活動が、</a:t>
            </a:r>
            <a:endParaRPr lang="en-US" sz="2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「場」を通して、人とつながっていった。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43/53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場をつくると、人との「間」がなくなる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97280" y="1508760"/>
            <a:ext cx="9994392" cy="1828800"/>
          </a:xfrm>
          <a:prstGeom prst="roundRect">
            <a:avLst>
              <a:gd name="adj" fmla="val 5000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63040" y="1508760"/>
            <a:ext cx="9235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自分の「場」を持つと、そこに人が集まる。
</a:t>
            </a:r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分散していたバラバラの点が、場を通してつながる。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0" y="3611880"/>
            <a:ext cx="7616952" cy="1188720"/>
          </a:xfrm>
          <a:prstGeom prst="roundRect">
            <a:avLst>
              <a:gd name="adj" fmla="val 9231"/>
            </a:avLst>
          </a:prstGeom>
          <a:solidFill>
            <a:srgbClr val="22324F"/>
          </a:solidFill>
          <a:ln w="34925">
            <a:solidFill>
              <a:srgbClr val="F6B07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0" y="3611880"/>
            <a:ext cx="76169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 × 場づくり ＝ 自分の生き方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そういえば、僕の人生目標は……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44/53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バラバラの点が、場を通して「線」になる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828800" y="2011680"/>
            <a:ext cx="4261104" cy="1371600"/>
          </a:xfrm>
          <a:prstGeom prst="line">
            <a:avLst/>
          </a:prstGeom>
          <a:noFill/>
          <a:ln w="31750">
            <a:solidFill>
              <a:srgbClr val="4459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6089904" y="2011680"/>
            <a:ext cx="3968496" cy="1371600"/>
          </a:xfrm>
          <a:prstGeom prst="line">
            <a:avLst/>
          </a:prstGeom>
          <a:noFill/>
          <a:ln w="31750">
            <a:solidFill>
              <a:srgbClr val="4459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3383280"/>
            <a:ext cx="4718304" cy="822960"/>
          </a:xfrm>
          <a:prstGeom prst="line">
            <a:avLst/>
          </a:prstGeom>
          <a:noFill/>
          <a:ln w="31750">
            <a:solidFill>
              <a:srgbClr val="4459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9904" y="3383280"/>
            <a:ext cx="4334256" cy="822960"/>
          </a:xfrm>
          <a:prstGeom prst="line">
            <a:avLst/>
          </a:prstGeom>
          <a:noFill/>
          <a:ln w="31750">
            <a:solidFill>
              <a:srgbClr val="4459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089904" y="3383280"/>
            <a:ext cx="0" cy="1737360"/>
          </a:xfrm>
          <a:prstGeom prst="line">
            <a:avLst/>
          </a:prstGeom>
          <a:noFill/>
          <a:ln w="31750">
            <a:solidFill>
              <a:srgbClr val="4459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75504" y="288036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6B071"/>
          </a:solidFill>
          <a:ln/>
        </p:spPr>
      </p:sp>
      <p:sp>
        <p:nvSpPr>
          <p:cNvPr id="9" name="Text 7"/>
          <p:cNvSpPr/>
          <p:nvPr/>
        </p:nvSpPr>
        <p:spPr>
          <a:xfrm>
            <a:off x="5175504" y="288036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場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188720" y="1691640"/>
            <a:ext cx="1280160" cy="640080"/>
          </a:xfrm>
          <a:prstGeom prst="ellipse">
            <a:avLst/>
          </a:prstGeom>
          <a:solidFill>
            <a:srgbClr val="1B2942"/>
          </a:solidFill>
          <a:ln w="31750">
            <a:solidFill>
              <a:srgbClr val="3AD6C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16916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本業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418320" y="1691640"/>
            <a:ext cx="1280160" cy="640080"/>
          </a:xfrm>
          <a:prstGeom prst="ellipse">
            <a:avLst/>
          </a:prstGeom>
          <a:solidFill>
            <a:srgbClr val="1B2942"/>
          </a:solidFill>
          <a:ln w="31750">
            <a:solidFill>
              <a:srgbClr val="B39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16916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39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カメラ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886200"/>
            <a:ext cx="1280160" cy="640080"/>
          </a:xfrm>
          <a:prstGeom prst="ellipse">
            <a:avLst/>
          </a:prstGeom>
          <a:solidFill>
            <a:srgbClr val="1B2942"/>
          </a:solidFill>
          <a:ln w="31750">
            <a:solidFill>
              <a:srgbClr val="F6B07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886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執筆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784080" y="3886200"/>
            <a:ext cx="1280160" cy="640080"/>
          </a:xfrm>
          <a:prstGeom prst="ellipse">
            <a:avLst/>
          </a:prstGeom>
          <a:solidFill>
            <a:srgbClr val="1B2942"/>
          </a:solidFill>
          <a:ln w="31750">
            <a:solidFill>
              <a:srgbClr val="F086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46920" y="3886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866B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教育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49824" y="4800600"/>
            <a:ext cx="1280160" cy="640080"/>
          </a:xfrm>
          <a:prstGeom prst="ellipse">
            <a:avLst/>
          </a:prstGeom>
          <a:solidFill>
            <a:srgbClr val="1B2942"/>
          </a:solidFill>
          <a:ln w="31750">
            <a:solidFill>
              <a:srgbClr val="63C7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12664" y="48006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3C79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分散（点）× 場づくり（つなぐ）＝ 自分だけの形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45/53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高校で、今からできる「場づくり」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60020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00200"/>
            <a:ext cx="201168" cy="960120"/>
          </a:xfrm>
          <a:prstGeom prst="rect">
            <a:avLst/>
          </a:prstGeom>
          <a:solidFill>
            <a:srgbClr val="F0866B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600200"/>
            <a:ext cx="97200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文化祭・体育祭の実行委員に手を挙げる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2761488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761488"/>
            <a:ext cx="201168" cy="960120"/>
          </a:xfrm>
          <a:prstGeom prst="rect">
            <a:avLst/>
          </a:prstGeom>
          <a:solidFill>
            <a:srgbClr val="3AD6C6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2761488"/>
            <a:ext cx="97200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部活で、新しい企画を自分から立てる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3922776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922776"/>
            <a:ext cx="201168" cy="960120"/>
          </a:xfrm>
          <a:prstGeom prst="rect">
            <a:avLst/>
          </a:prstGeom>
          <a:solidFill>
            <a:srgbClr val="B39BFF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3922776"/>
            <a:ext cx="97200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小さな集まり（勉強会・撮影会）を主催する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5084064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084064"/>
            <a:ext cx="201168" cy="960120"/>
          </a:xfrm>
          <a:prstGeom prst="rect">
            <a:avLst/>
          </a:prstGeom>
          <a:solidFill>
            <a:srgbClr val="63C79A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5084064"/>
            <a:ext cx="97200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SNSで発信して、人を集めてみる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一回でいい。「客」から「つくる側」へ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46/53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今日の2つの柱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554480"/>
            <a:ext cx="4846320" cy="3291840"/>
          </a:xfrm>
          <a:prstGeom prst="roundRect">
            <a:avLst>
              <a:gd name="adj" fmla="val 3333"/>
            </a:avLst>
          </a:prstGeom>
          <a:solidFill>
            <a:srgbClr val="1B2942"/>
          </a:solidFill>
          <a:ln w="34925">
            <a:solidFill>
              <a:srgbClr val="3AD6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28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柱 ①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188720" y="3383280"/>
            <a:ext cx="4297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好きを複数持つ</a:t>
            </a:r>
            <a:endParaRPr lang="en-US" sz="1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一つに全部賭けない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0" y="1554480"/>
            <a:ext cx="4846320" cy="3291840"/>
          </a:xfrm>
          <a:prstGeom prst="roundRect">
            <a:avLst>
              <a:gd name="adj" fmla="val 3333"/>
            </a:avLst>
          </a:prstGeom>
          <a:solidFill>
            <a:srgbClr val="1B2942"/>
          </a:solidFill>
          <a:ln w="34925">
            <a:solidFill>
              <a:srgbClr val="F6B0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828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柱 ②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0" y="23317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場をつくる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675120" y="3383280"/>
            <a:ext cx="4297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「客」をやめて</a:t>
            </a:r>
            <a:endParaRPr lang="en-US" sz="1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つくる側に回る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632704" y="26517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✕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この2本で、進路の話に戻ります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47/53</a:t>
            </a:r>
            <a:endParaRPr lang="en-US" sz="16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(たくさん失敗した植元が言う)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65760" y="77724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進路に「失敗」はない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1828800"/>
            <a:ext cx="10360152" cy="3291840"/>
          </a:xfrm>
          <a:prstGeom prst="roundRect">
            <a:avLst>
              <a:gd name="adj" fmla="val 2778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10312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大学でも大学院でも専門でも就職でも、内部進学でも、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「なぜその選択をしたか」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397764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を言えれば問題ない！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失敗も、色々も、普通じゃないルートも —— 理由があれば「自分の進路」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48/53</a:t>
            </a:r>
            <a:endParaRPr lang="en-US" sz="16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高校生活で、今日からできること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55448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554480"/>
            <a:ext cx="201168" cy="960120"/>
          </a:xfrm>
          <a:prstGeom prst="rect">
            <a:avLst/>
          </a:prstGeom>
          <a:solidFill>
            <a:srgbClr val="3AD6C6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627632"/>
            <a:ext cx="9720072" cy="537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1. 好きなことを「3つ」書き出す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2092147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［分散］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69748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697480"/>
            <a:ext cx="201168" cy="960120"/>
          </a:xfrm>
          <a:prstGeom prst="rect">
            <a:avLst/>
          </a:prstGeom>
          <a:solidFill>
            <a:srgbClr val="63C79A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2770632"/>
            <a:ext cx="9720072" cy="537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2. やったことないことを「1つ」試す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80160" y="3235147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［分散］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384048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840480"/>
            <a:ext cx="201168" cy="960120"/>
          </a:xfrm>
          <a:prstGeom prst="rect">
            <a:avLst/>
          </a:prstGeom>
          <a:solidFill>
            <a:srgbClr val="F6B071"/>
          </a:solidFill>
          <a:ln/>
        </p:spPr>
      </p:sp>
      <p:sp>
        <p:nvSpPr>
          <p:cNvPr id="13" name="Text 11"/>
          <p:cNvSpPr/>
          <p:nvPr/>
        </p:nvSpPr>
        <p:spPr>
          <a:xfrm>
            <a:off x="1280160" y="3913632"/>
            <a:ext cx="9720072" cy="537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3. 一度でいいから、つくる側に立つ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280160" y="4378147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［場づくり］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14400" y="498348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983480"/>
            <a:ext cx="201168" cy="960120"/>
          </a:xfrm>
          <a:prstGeom prst="rect">
            <a:avLst/>
          </a:prstGeom>
          <a:solidFill>
            <a:srgbClr val="B39B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5056632"/>
            <a:ext cx="9720072" cy="537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4. 小さく発信する（SNS・文章・動画）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280160" y="5521147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［場づくり］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" y="62179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大きく変えなくていい。種を増やすだけ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49/53</a:t>
            </a:r>
            <a:endParaRPr lang="en-US" sz="16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01752"/>
            <a:ext cx="114300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今日の持ち帰り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97280" y="1600200"/>
            <a:ext cx="9994392" cy="11430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31750">
            <a:solidFill>
              <a:srgbClr val="3AD6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1892808"/>
            <a:ext cx="548640" cy="548640"/>
          </a:xfrm>
          <a:prstGeom prst="ellipse">
            <a:avLst/>
          </a:prstGeom>
          <a:solidFill>
            <a:srgbClr val="3AD6C6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892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148840" y="1600200"/>
            <a:ext cx="87782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進路も「好き」も、複数あっていい（分散）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097280" y="2926080"/>
            <a:ext cx="9994392" cy="11430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31750">
            <a:solidFill>
              <a:srgbClr val="F6B07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71600" y="3218688"/>
            <a:ext cx="548640" cy="548640"/>
          </a:xfrm>
          <a:prstGeom prst="ellipse">
            <a:avLst/>
          </a:prstGeom>
          <a:solidFill>
            <a:srgbClr val="F6B071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32186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148840" y="2926080"/>
            <a:ext cx="87782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「客」をやめて、つくる側に回る（場づくり）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97280" y="4251960"/>
            <a:ext cx="9994392" cy="11430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31750">
            <a:solidFill>
              <a:srgbClr val="B39B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4544568"/>
            <a:ext cx="548640" cy="548640"/>
          </a:xfrm>
          <a:prstGeom prst="ellipse">
            <a:avLst/>
          </a:prstGeom>
          <a:solidFill>
            <a:srgbClr val="B39BFF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45445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148840" y="4251960"/>
            <a:ext cx="87782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進路に「失敗」はない（理由を言えれば自分の進路）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50/53</a:t>
            </a:r>
            <a:endParaRPr lang="en-US" sz="16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最後に、もう一度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554480"/>
            <a:ext cx="10360152" cy="1371600"/>
          </a:xfrm>
          <a:prstGeom prst="roundRect">
            <a:avLst>
              <a:gd name="adj" fmla="val 8000"/>
            </a:avLst>
          </a:prstGeom>
          <a:solidFill>
            <a:srgbClr val="22324F"/>
          </a:solidFill>
          <a:ln w="34925">
            <a:solidFill>
              <a:srgbClr val="F6B07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55448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「人と人の間に場を作り、間をなくす」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今日の話は、ぜんぶここにつながっています。</a:t>
            </a:r>
            <a:endParaRPr lang="en-US" sz="2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分散して、場をつくる。それが、僕の生き方です。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4937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AD6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ありがとうございました。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51/53</a:t>
            </a:r>
            <a:endParaRPr lang="en-US" sz="16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なんでも聞いてください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6B07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Q &amp; A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74320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IT業界って実際どう？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343400" y="27432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0" y="274320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数学は仕事で役に立つ？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046720" y="27432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83880" y="274320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Dellの仕事のリアル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84048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4048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大学の4年間、どう使う？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343400" y="384048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384048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「場」のつくり方・はじめ方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046720" y="384048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384048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FDA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お金・給料・失敗談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Q&amp;Aは8〜10分ほど取ります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52/53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質問がなければ……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14400" y="1234440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234440"/>
            <a:ext cx="128016" cy="841248"/>
          </a:xfrm>
          <a:prstGeom prst="rect">
            <a:avLst/>
          </a:prstGeom>
          <a:solidFill>
            <a:srgbClr val="F0866B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34440"/>
            <a:ext cx="9875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留年したとき、親になんて言った？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14400" y="2212848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212848"/>
            <a:ext cx="128016" cy="841248"/>
          </a:xfrm>
          <a:prstGeom prst="rect">
            <a:avLst/>
          </a:prstGeom>
          <a:solidFill>
            <a:srgbClr val="3AD6C6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2212848"/>
            <a:ext cx="9875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サンリオのバイト、実際どうだった？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3191256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128016" cy="841248"/>
          </a:xfrm>
          <a:prstGeom prst="rect">
            <a:avLst/>
          </a:prstGeom>
          <a:solidFill>
            <a:srgbClr val="F6B071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3191256"/>
            <a:ext cx="9875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インターンのPC、どうやって取り返した？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4169664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4169664"/>
            <a:ext cx="128016" cy="841248"/>
          </a:xfrm>
          <a:prstGeom prst="rect">
            <a:avLst/>
          </a:prstGeom>
          <a:solidFill>
            <a:srgbClr val="B39BFF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169664"/>
            <a:ext cx="9875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今の仕事、ぶっちゃけ給料いくら？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5148072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25400">
            <a:solidFill>
              <a:srgbClr val="4459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5148072"/>
            <a:ext cx="128016" cy="841248"/>
          </a:xfrm>
          <a:prstGeom prst="rect">
            <a:avLst/>
          </a:prstGeom>
          <a:solidFill>
            <a:srgbClr val="63C79A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5148072"/>
            <a:ext cx="9875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高校の3年間、何に時間を使うか決めてる？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4C2D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53/53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進路も分散してみませんか</dc:title>
  <dc:subject>PptxGenJS Presentation</dc:subject>
  <dc:creator>植元 雅斗</dc:creator>
  <cp:lastModifiedBy>植元 雅斗</cp:lastModifiedBy>
  <cp:revision>1</cp:revision>
  <dcterms:created xsi:type="dcterms:W3CDTF">2026-07-07T03:13:02Z</dcterms:created>
  <dcterms:modified xsi:type="dcterms:W3CDTF">2026-07-07T03:13:02Z</dcterms:modified>
</cp:coreProperties>
</file>